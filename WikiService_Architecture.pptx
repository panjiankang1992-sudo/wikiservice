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965960"/>
            <a:ext cx="1371600" cy="36576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097280"/>
            <a:ext cx="8503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600" b="1">
                <a:solidFill>
                  <a:srgbClr val="F0F0F5"/>
                </a:solidFill>
                <a:latin typeface="Arial"/>
              </a:defRPr>
            </a:pPr>
            <a:r>
              <a:t>WikiService 知识库系统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19456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909E"/>
                </a:solidFill>
                <a:latin typeface="Arial"/>
              </a:defRPr>
            </a:pPr>
            <a:r>
              <a:t>架构设计 · 实现方案 · 用户操作模式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88036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A606E"/>
                </a:solidFill>
                <a:latin typeface="Arial"/>
              </a:defRPr>
            </a:pPr>
            <a:r>
              <a:t>基于 LightRAG + 多源数据采集的企业级知识库系统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912467" y="3657600"/>
            <a:ext cx="1417320" cy="365760"/>
          </a:xfrm>
          <a:prstGeom prst="roundRect">
            <a:avLst/>
          </a:prstGeom>
          <a:solidFill>
            <a:srgbClr val="0B121E"/>
          </a:solidFill>
          <a:ln w="10160">
            <a:solidFill>
              <a:srgbClr val="63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9EFF"/>
                </a:solidFill>
                <a:latin typeface="Arial"/>
              </a:defRPr>
            </a:pPr>
            <a:r>
              <a:t>Flask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49827" y="3657600"/>
            <a:ext cx="1417320" cy="365760"/>
          </a:xfrm>
          <a:prstGeom prst="roundRect">
            <a:avLst/>
          </a:prstGeom>
          <a:solidFill>
            <a:srgbClr val="0B121E"/>
          </a:solidFill>
          <a:ln w="10160">
            <a:solidFill>
              <a:srgbClr val="63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9EFF"/>
                </a:solidFill>
                <a:latin typeface="Arial"/>
              </a:defRPr>
            </a:pPr>
            <a:r>
              <a:t>D3.js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87187" y="3657600"/>
            <a:ext cx="1417320" cy="365760"/>
          </a:xfrm>
          <a:prstGeom prst="roundRect">
            <a:avLst/>
          </a:prstGeom>
          <a:solidFill>
            <a:srgbClr val="0B121E"/>
          </a:solidFill>
          <a:ln w="10160">
            <a:solidFill>
              <a:srgbClr val="63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9EFF"/>
                </a:solidFill>
                <a:latin typeface="Arial"/>
              </a:defRPr>
            </a:pPr>
            <a:r>
              <a:t>Ollama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24547" y="3657600"/>
            <a:ext cx="1417320" cy="365760"/>
          </a:xfrm>
          <a:prstGeom prst="roundRect">
            <a:avLst/>
          </a:prstGeom>
          <a:solidFill>
            <a:srgbClr val="0B121E"/>
          </a:solidFill>
          <a:ln w="10160">
            <a:solidFill>
              <a:srgbClr val="63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9EFF"/>
                </a:solidFill>
                <a:latin typeface="Arial"/>
              </a:defRPr>
            </a:pPr>
            <a:r>
              <a:t>DeepSeek Chat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61907" y="3657600"/>
            <a:ext cx="1417320" cy="365760"/>
          </a:xfrm>
          <a:prstGeom prst="roundRect">
            <a:avLst/>
          </a:prstGeom>
          <a:solidFill>
            <a:srgbClr val="0B121E"/>
          </a:solidFill>
          <a:ln w="10160">
            <a:solidFill>
              <a:srgbClr val="63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9EFF"/>
                </a:solidFill>
                <a:latin typeface="Arial"/>
              </a:defRPr>
            </a:pPr>
            <a:r>
              <a:t>Crawl4AI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912467" y="4160520"/>
            <a:ext cx="1417320" cy="365760"/>
          </a:xfrm>
          <a:prstGeom prst="roundRect">
            <a:avLst/>
          </a:prstGeom>
          <a:solidFill>
            <a:srgbClr val="0B121E"/>
          </a:solidFill>
          <a:ln w="10160">
            <a:solidFill>
              <a:srgbClr val="63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9EFF"/>
                </a:solidFill>
                <a:latin typeface="Arial"/>
              </a:defRPr>
            </a:pPr>
            <a:r>
              <a:t>pgvector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49827" y="4160520"/>
            <a:ext cx="1417320" cy="365760"/>
          </a:xfrm>
          <a:prstGeom prst="roundRect">
            <a:avLst/>
          </a:prstGeom>
          <a:solidFill>
            <a:srgbClr val="0B121E"/>
          </a:solidFill>
          <a:ln w="10160">
            <a:solidFill>
              <a:srgbClr val="63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9EFF"/>
                </a:solidFill>
                <a:latin typeface="Arial"/>
              </a:defRPr>
            </a:pPr>
            <a:r>
              <a:t>Docker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87187" y="4160520"/>
            <a:ext cx="1417320" cy="365760"/>
          </a:xfrm>
          <a:prstGeom prst="roundRect">
            <a:avLst/>
          </a:prstGeom>
          <a:solidFill>
            <a:srgbClr val="0B121E"/>
          </a:solidFill>
          <a:ln w="10160">
            <a:solidFill>
              <a:srgbClr val="63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9EFF"/>
                </a:solidFill>
                <a:latin typeface="Arial"/>
              </a:defRPr>
            </a:pPr>
            <a:r>
              <a:t>MCP Protocol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24547" y="4160520"/>
            <a:ext cx="1417320" cy="365760"/>
          </a:xfrm>
          <a:prstGeom prst="roundRect">
            <a:avLst/>
          </a:prstGeom>
          <a:solidFill>
            <a:srgbClr val="0B121E"/>
          </a:solidFill>
          <a:ln w="10160">
            <a:solidFill>
              <a:srgbClr val="63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9EFF"/>
                </a:solidFill>
                <a:latin typeface="Arial"/>
              </a:defRPr>
            </a:pPr>
            <a:r>
              <a:t>APScheduler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1907" y="4160520"/>
            <a:ext cx="1417320" cy="365760"/>
          </a:xfrm>
          <a:prstGeom prst="roundRect">
            <a:avLst/>
          </a:prstGeom>
          <a:solidFill>
            <a:srgbClr val="0B121E"/>
          </a:solidFill>
          <a:ln w="10160">
            <a:solidFill>
              <a:srgbClr val="63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9EFF"/>
                </a:solidFill>
                <a:latin typeface="Arial"/>
              </a:defRPr>
            </a:pPr>
            <a:r>
              <a:t>Neo4j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846320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06E"/>
                </a:solidFill>
                <a:latin typeface="Arial"/>
              </a:defRPr>
            </a:pPr>
            <a:r>
              <a:t>2026 年 5 月  ·  v1.0  ·  端口 23100-23109  ·  部署于 localhost:23100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0F5"/>
                </a:solidFill>
                <a:latin typeface="Arial"/>
              </a:defRPr>
            </a:pPr>
            <a:r>
              <a:t>项目概述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5204307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19"/>
            <a:ext cx="48385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9EFF"/>
                </a:solidFill>
                <a:latin typeface="Arial"/>
              </a:defRPr>
            </a:pPr>
            <a:r>
              <a:t>▎什么是 WikiService？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3854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09E"/>
                </a:solidFill>
                <a:latin typeface="Arial"/>
              </a:defRPr>
            </a:pPr>
            <a:r>
              <a:t>WikiService 是一个服务器版的企业级知识库</a:t>
            </a:r>
            <a:br/>
            <a:r>
              <a:t>系统，以 LightRAG 为核心引擎，融合多源数据</a:t>
            </a:r>
            <a:br/>
            <a:r>
              <a:t>采集与智能检索能力。</a:t>
            </a:r>
            <a:br/>
            <a:br/>
            <a:r>
              <a:t>• 整合散落的多源知识，构建统一检索入口</a:t>
            </a:r>
            <a:br/>
            <a:r>
              <a:t>• 语义搜索 + AI 综合评分，精准定位文档</a:t>
            </a:r>
            <a:br/>
            <a:r>
              <a:t>• D3.js 知识图谱，发现文档间隐性关联</a:t>
            </a:r>
            <a:br/>
            <a:r>
              <a:t>• MCP 标准协议，无缝对接 AI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5867" y="1051560"/>
            <a:ext cx="5204307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38747" y="1188719"/>
            <a:ext cx="483854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9EFF"/>
                </a:solidFill>
                <a:latin typeface="Arial"/>
              </a:defRPr>
            </a:pPr>
            <a:r>
              <a:t>▎应用场景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8747" y="1600200"/>
            <a:ext cx="483854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9EFF"/>
                </a:solidFill>
                <a:latin typeface="Arial"/>
              </a:defRPr>
            </a:pPr>
            <a:r>
              <a:t>🏢  企业知识库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8747" y="1819656"/>
            <a:ext cx="483854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团队文档集中管理，自动采集内外网资料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747" y="2103120"/>
            <a:ext cx="483854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9EFF"/>
                </a:solidFill>
                <a:latin typeface="Arial"/>
              </a:defRPr>
            </a:pPr>
            <a:r>
              <a:t>🤖  AI Agent 后端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38747" y="2322576"/>
            <a:ext cx="483854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通过 MCP 为 Claude 等智能体提供知识检索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47" y="2606040"/>
            <a:ext cx="483854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9EFF"/>
                </a:solidFill>
                <a:latin typeface="Arial"/>
              </a:defRPr>
            </a:pPr>
            <a:r>
              <a:t>📝  个人知识管理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8747" y="2825496"/>
            <a:ext cx="483854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Obsidian 式交叉引用 + D3.js 图谱可视化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520439"/>
            <a:ext cx="10728655" cy="3291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630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9EFF"/>
                </a:solidFill>
                <a:latin typeface="Arial"/>
              </a:defRPr>
            </a:pPr>
            <a:r>
              <a:t>▎四大核心能力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977639"/>
            <a:ext cx="2407843" cy="2560320"/>
          </a:xfrm>
          <a:prstGeom prst="roundRect">
            <a:avLst/>
          </a:prstGeom>
          <a:solidFill>
            <a:srgbClr val="12181E"/>
          </a:solidFill>
          <a:ln w="12700">
            <a:solidFill>
              <a:srgbClr val="63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114800"/>
            <a:ext cx="213352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39EFF"/>
                </a:solidFill>
                <a:latin typeface="Arial"/>
              </a:defRPr>
            </a:pPr>
            <a:r>
              <a:t>🔍  混合检索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526279"/>
            <a:ext cx="2133523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8A909E"/>
                </a:solidFill>
                <a:latin typeface="Arial"/>
              </a:defRPr>
            </a:pPr>
            <a:r>
              <a:t>语义向量 (Ollama)</a:t>
            </a:r>
            <a:br/>
            <a:r>
              <a:t>+ BM25 Fallback</a:t>
            </a:r>
            <a:br/>
            <a:r>
              <a:t>双引擎互补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05123" y="3977639"/>
            <a:ext cx="2407843" cy="2560320"/>
          </a:xfrm>
          <a:prstGeom prst="roundRect">
            <a:avLst/>
          </a:prstGeom>
          <a:solidFill>
            <a:srgbClr val="12181E"/>
          </a:solidFill>
          <a:ln w="12700">
            <a:solidFill>
              <a:srgbClr val="43D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42283" y="4114800"/>
            <a:ext cx="213352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3D68C"/>
                </a:solidFill>
                <a:latin typeface="Arial"/>
              </a:defRPr>
            </a:pPr>
            <a:r>
              <a:t>📡  多源采集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42283" y="4526279"/>
            <a:ext cx="2133523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8A909E"/>
                </a:solidFill>
                <a:latin typeface="Arial"/>
              </a:defRPr>
            </a:pPr>
            <a:r>
              <a:t>网页 / GitHub</a:t>
            </a:r>
            <a:br/>
            <a:r>
              <a:t>/ 目录 / 上传</a:t>
            </a:r>
            <a:br/>
            <a:r>
              <a:t>五种录入方式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5847" y="3977639"/>
            <a:ext cx="2407843" cy="2560320"/>
          </a:xfrm>
          <a:prstGeom prst="roundRect">
            <a:avLst/>
          </a:prstGeom>
          <a:solidFill>
            <a:srgbClr val="12181E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3007" y="4114800"/>
            <a:ext cx="213352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  <a:latin typeface="Arial"/>
              </a:defRPr>
            </a:pPr>
            <a:r>
              <a:t>🧠  AI 评分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3007" y="4526279"/>
            <a:ext cx="2133523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8A909E"/>
                </a:solidFill>
                <a:latin typeface="Arial"/>
              </a:defRPr>
            </a:pPr>
            <a:r>
              <a:t>综合关联度排名</a:t>
            </a:r>
            <a:br/>
            <a:r>
              <a:t>= 语义 55% + 关键词 45%</a:t>
            </a:r>
            <a:br/>
            <a:r>
              <a:t>含推荐理由生成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571" y="3977639"/>
            <a:ext cx="2407843" cy="2560320"/>
          </a:xfrm>
          <a:prstGeom prst="roundRect">
            <a:avLst/>
          </a:prstGeom>
          <a:solidFill>
            <a:srgbClr val="12181E"/>
          </a:solidFill>
          <a:ln w="12700">
            <a:solidFill>
              <a:srgbClr val="A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23731" y="4114800"/>
            <a:ext cx="213352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78FF"/>
                </a:solidFill>
                <a:latin typeface="Arial"/>
              </a:defRPr>
            </a:pPr>
            <a:r>
              <a:t>🕸️  知识图谱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23731" y="4526279"/>
            <a:ext cx="2133523" cy="1828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8A909E"/>
                </a:solidFill>
                <a:latin typeface="Arial"/>
              </a:defRPr>
            </a:pPr>
            <a:r>
              <a:t>D3.js 力导向图</a:t>
            </a:r>
            <a:br/>
            <a:r>
              <a:t>6 种实体自动抽取</a:t>
            </a:r>
            <a:br/>
            <a:r>
              <a:t>交互式节点探索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0F5"/>
                </a:solidFill>
                <a:latin typeface="Arial"/>
              </a:defRPr>
            </a:pPr>
            <a:r>
              <a:t>技术架构全景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960120"/>
            <a:ext cx="10728655" cy="1261872"/>
          </a:xfrm>
          <a:prstGeom prst="roundRect">
            <a:avLst/>
          </a:prstGeom>
          <a:solidFill>
            <a:srgbClr val="10171E"/>
          </a:solidFill>
          <a:ln w="12700">
            <a:solidFill>
              <a:srgbClr val="63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0584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9EFF"/>
                </a:solidFill>
                <a:latin typeface="Arial"/>
              </a:defRPr>
            </a:pPr>
            <a:r>
              <a:t>📥  数据采集层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07592"/>
            <a:ext cx="3271418" cy="822959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62456"/>
            <a:ext cx="308853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3D68C"/>
                </a:solidFill>
                <a:latin typeface="Arial"/>
              </a:defRPr>
            </a:pPr>
            <a:r>
              <a:t>Crawl4AI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81912"/>
            <a:ext cx="308853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定时深度爬取</a:t>
            </a:r>
            <a:br/>
            <a:r>
              <a:t>JS渲染/登录态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8698" y="1307592"/>
            <a:ext cx="3271418" cy="822959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0138" y="1362456"/>
            <a:ext cx="308853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78FF"/>
                </a:solidFill>
                <a:latin typeface="Arial"/>
              </a:defRPr>
            </a:pPr>
            <a:r>
              <a:t>Git Ingester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0138" y="1581912"/>
            <a:ext cx="308853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仓库克隆+提取</a:t>
            </a:r>
            <a:br/>
            <a:r>
              <a:t>SHA256 去重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22996" y="1307592"/>
            <a:ext cx="3271418" cy="822959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14436" y="1362456"/>
            <a:ext cx="308853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A623"/>
                </a:solidFill>
                <a:latin typeface="Arial"/>
              </a:defRPr>
            </a:pPr>
            <a:r>
              <a:t>File Watcher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14436" y="1581912"/>
            <a:ext cx="308853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本地目录监控</a:t>
            </a:r>
            <a:br/>
            <a:r>
              <a:t>增量同步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331720"/>
            <a:ext cx="10728655" cy="1261872"/>
          </a:xfrm>
          <a:prstGeom prst="roundRect">
            <a:avLst/>
          </a:prstGeom>
          <a:solidFill>
            <a:srgbClr val="10171E"/>
          </a:solidFill>
          <a:ln w="12700">
            <a:solidFill>
              <a:srgbClr val="43D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377439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3D68C"/>
                </a:solidFill>
                <a:latin typeface="Arial"/>
              </a:defRPr>
            </a:pPr>
            <a:r>
              <a:t>⚙️  核心引擎层 (LightRAG)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2679191"/>
            <a:ext cx="2407843" cy="822959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734056"/>
            <a:ext cx="22249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9EFF"/>
                </a:solidFill>
                <a:latin typeface="Arial"/>
              </a:defRPr>
            </a:pPr>
            <a:r>
              <a:t>文档管道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2953511"/>
            <a:ext cx="2224963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解析→分块</a:t>
            </a:r>
            <a:br/>
            <a:r>
              <a:t>→Embedding→存储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05123" y="2679191"/>
            <a:ext cx="2407843" cy="822959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96563" y="2734056"/>
            <a:ext cx="22249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3D68C"/>
                </a:solidFill>
                <a:latin typeface="Arial"/>
              </a:defRPr>
            </a:pPr>
            <a:r>
              <a:t>语义检索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96563" y="2953511"/>
            <a:ext cx="2224963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Ollama 本地</a:t>
            </a:r>
            <a:br/>
            <a:r>
              <a:t>向量+BM25回退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095847" y="2679191"/>
            <a:ext cx="2407843" cy="822959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87287" y="2734056"/>
            <a:ext cx="22249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A623"/>
                </a:solidFill>
                <a:latin typeface="Arial"/>
              </a:defRPr>
            </a:pPr>
            <a:r>
              <a:t>AI 评分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87287" y="2953511"/>
            <a:ext cx="2224963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综合关联度排名</a:t>
            </a:r>
            <a:br/>
            <a:r>
              <a:t>+ 推荐理由+摘要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571" y="2679191"/>
            <a:ext cx="2407843" cy="822959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78011" y="2734056"/>
            <a:ext cx="2224963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78FF"/>
                </a:solidFill>
                <a:latin typeface="Arial"/>
              </a:defRPr>
            </a:pPr>
            <a:r>
              <a:t>Wiki 链接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011" y="2953511"/>
            <a:ext cx="2224963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[[链接]] 解析</a:t>
            </a:r>
            <a:br/>
            <a:r>
              <a:t>跨文档导航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3703320"/>
            <a:ext cx="10728655" cy="1261872"/>
          </a:xfrm>
          <a:prstGeom prst="roundRect">
            <a:avLst/>
          </a:prstGeom>
          <a:solidFill>
            <a:srgbClr val="10171E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3749039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  <a:latin typeface="Arial"/>
              </a:defRPr>
            </a:pPr>
            <a:r>
              <a:t>💾  存储层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050791"/>
            <a:ext cx="3271418" cy="822959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4105655"/>
            <a:ext cx="308853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9EFF"/>
                </a:solidFill>
                <a:latin typeface="Arial"/>
              </a:defRPr>
            </a:pPr>
            <a:r>
              <a:t>JSON 文件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325112"/>
            <a:ext cx="308853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text_chunks.json</a:t>
            </a:r>
            <a:br/>
            <a:r>
              <a:t>+ embeddings.json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68698" y="4050791"/>
            <a:ext cx="3271418" cy="822959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60138" y="4105655"/>
            <a:ext cx="308853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3D68C"/>
                </a:solidFill>
                <a:latin typeface="Arial"/>
              </a:defRPr>
            </a:pPr>
            <a:r>
              <a:t>本地缓存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60138" y="4325112"/>
            <a:ext cx="308853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增量计算</a:t>
            </a:r>
            <a:br/>
            <a:r>
              <a:t>零网络依赖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822996" y="4050791"/>
            <a:ext cx="3271418" cy="822959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14436" y="4105655"/>
            <a:ext cx="308853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A623"/>
                </a:solidFill>
                <a:latin typeface="Arial"/>
              </a:defRPr>
            </a:pPr>
            <a:r>
              <a:t>pgvector(生产)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14436" y="4325112"/>
            <a:ext cx="308853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Docker 全栈</a:t>
            </a:r>
            <a:br/>
            <a:r>
              <a:t>PostgreSQL+向量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5074920"/>
            <a:ext cx="10728655" cy="1261872"/>
          </a:xfrm>
          <a:prstGeom prst="roundRect">
            <a:avLst/>
          </a:prstGeom>
          <a:solidFill>
            <a:srgbClr val="10171E"/>
          </a:solidFill>
          <a:ln w="12700">
            <a:solidFill>
              <a:srgbClr val="A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120640"/>
            <a:ext cx="3657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78FF"/>
                </a:solidFill>
                <a:latin typeface="Arial"/>
              </a:defRPr>
            </a:pPr>
            <a:r>
              <a:t>🔌  服务暴露层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" y="5422392"/>
            <a:ext cx="3271418" cy="822959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5477255"/>
            <a:ext cx="308853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9EFF"/>
                </a:solidFill>
                <a:latin typeface="Arial"/>
              </a:defRPr>
            </a:pPr>
            <a:r>
              <a:t>Web UI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" y="5696712"/>
            <a:ext cx="308853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Jinja2 模板</a:t>
            </a:r>
            <a:br/>
            <a:r>
              <a:t>4 个功能页面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68698" y="5422392"/>
            <a:ext cx="3271418" cy="822959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60138" y="5477255"/>
            <a:ext cx="308853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3D68C"/>
                </a:solidFill>
                <a:latin typeface="Arial"/>
              </a:defRPr>
            </a:pPr>
            <a:r>
              <a:t>REST API (14)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60138" y="5696712"/>
            <a:ext cx="308853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Flask 端点</a:t>
            </a:r>
            <a:br/>
            <a:r>
              <a:t>CRUD/搜索/图谱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822996" y="5422392"/>
            <a:ext cx="3271418" cy="822959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14436" y="5477255"/>
            <a:ext cx="308853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A623"/>
                </a:solidFill>
                <a:latin typeface="Arial"/>
              </a:defRPr>
            </a:pPr>
            <a:r>
              <a:t>MCP Server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14436" y="5696712"/>
            <a:ext cx="308853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标准 MCP 协议</a:t>
            </a:r>
            <a:br/>
            <a:r>
              <a:t>AI Agent 接口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6537959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5A606E"/>
                </a:solidFill>
                <a:latin typeface="Arial"/>
              </a:defRPr>
            </a:pPr>
            <a:r>
              <a:t>数据流：外部源 → Crawl4AI / Git / 文件 → Markdown → 文档管道 → 向量库 + JSON 存储 → MCP / REST API / WebUI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0F5"/>
                </a:solidFill>
                <a:latin typeface="Arial"/>
              </a:defRPr>
            </a:pPr>
            <a:r>
              <a:t>核心技术选型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645920" cy="43891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188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9EFF"/>
                </a:solidFill>
                <a:latin typeface="Arial"/>
              </a:defRPr>
            </a:pPr>
            <a:r>
              <a:t>Web 框架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097280"/>
            <a:ext cx="2926080" cy="43891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11887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D4BF"/>
                </a:solidFill>
                <a:latin typeface="Arial"/>
              </a:defRPr>
            </a:pPr>
            <a:r>
              <a:t>Flask + Jinja2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097280"/>
            <a:ext cx="6217920" cy="43891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40680" y="11887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Python 轻量框架，单文件部署，模板热加载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591056"/>
            <a:ext cx="1645920" cy="438912"/>
          </a:xfrm>
          <a:prstGeom prst="roundRect">
            <a:avLst/>
          </a:prstGeom>
          <a:solidFill>
            <a:srgbClr val="12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6824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9EFF"/>
                </a:solidFill>
                <a:latin typeface="Arial"/>
              </a:defRPr>
            </a:pPr>
            <a:r>
              <a:t>嵌入模型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1591056"/>
            <a:ext cx="2926080" cy="438912"/>
          </a:xfrm>
          <a:prstGeom prst="roundRect">
            <a:avLst/>
          </a:prstGeom>
          <a:solidFill>
            <a:srgbClr val="12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168249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D4BF"/>
                </a:solidFill>
                <a:latin typeface="Arial"/>
              </a:defRPr>
            </a:pPr>
            <a:r>
              <a:t>Ollama nomic-embed-text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1591056"/>
            <a:ext cx="6217920" cy="438912"/>
          </a:xfrm>
          <a:prstGeom prst="roundRect">
            <a:avLst/>
          </a:prstGeom>
          <a:solidFill>
            <a:srgbClr val="12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40680" y="168249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768 维本地向量，毫秒级响应，完全离线运行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084832"/>
            <a:ext cx="1645920" cy="43891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21762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9EFF"/>
                </a:solidFill>
                <a:latin typeface="Arial"/>
              </a:defRPr>
            </a:pPr>
            <a:r>
              <a:t>AI 评分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77440" y="2084832"/>
            <a:ext cx="2926080" cy="43891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217627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D4BF"/>
                </a:solidFill>
                <a:latin typeface="Arial"/>
              </a:defRPr>
            </a:pPr>
            <a:r>
              <a:t>DeepSeek Chat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03520" y="2084832"/>
            <a:ext cx="6217920" cy="43891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0680" y="217627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综合关联度 = 语义 55% + 关键词 45%，自动生成推荐理由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2578608"/>
            <a:ext cx="1645920" cy="438912"/>
          </a:xfrm>
          <a:prstGeom prst="roundRect">
            <a:avLst/>
          </a:prstGeom>
          <a:solidFill>
            <a:srgbClr val="12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267004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9EFF"/>
                </a:solidFill>
                <a:latin typeface="Arial"/>
              </a:defRPr>
            </a:pPr>
            <a:r>
              <a:t>前端图谱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77440" y="2578608"/>
            <a:ext cx="2926080" cy="438912"/>
          </a:xfrm>
          <a:prstGeom prst="roundRect">
            <a:avLst/>
          </a:prstGeom>
          <a:solidFill>
            <a:srgbClr val="12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14600" y="26700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D4BF"/>
                </a:solidFill>
                <a:latin typeface="Arial"/>
              </a:defRPr>
            </a:pPr>
            <a:r>
              <a:t>D3.js v7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2578608"/>
            <a:ext cx="6217920" cy="438912"/>
          </a:xfrm>
          <a:prstGeom prst="roundRect">
            <a:avLst/>
          </a:prstGeom>
          <a:solidFill>
            <a:srgbClr val="12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0680" y="267004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力导向图引擎，交互式节点筛选与邻域高亮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3072384"/>
            <a:ext cx="1645920" cy="43891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3163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9EFF"/>
                </a:solidFill>
                <a:latin typeface="Arial"/>
              </a:defRPr>
            </a:pPr>
            <a:r>
              <a:t>Markdown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77440" y="3072384"/>
            <a:ext cx="2926080" cy="43891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514600" y="316382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D4BF"/>
                </a:solidFill>
                <a:latin typeface="Arial"/>
              </a:defRPr>
            </a:pPr>
            <a:r>
              <a:t>marked.js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03520" y="3072384"/>
            <a:ext cx="6217920" cy="43891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40680" y="316382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[[Wiki链接]] 自动解析，支持完整 GF 语法渲染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3566160"/>
            <a:ext cx="1645920" cy="438912"/>
          </a:xfrm>
          <a:prstGeom prst="roundRect">
            <a:avLst/>
          </a:prstGeom>
          <a:solidFill>
            <a:srgbClr val="12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36576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9EFF"/>
                </a:solidFill>
                <a:latin typeface="Arial"/>
              </a:defRPr>
            </a:pPr>
            <a:r>
              <a:t>向量存储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377440" y="3566160"/>
            <a:ext cx="2926080" cy="438912"/>
          </a:xfrm>
          <a:prstGeom prst="roundRect">
            <a:avLst/>
          </a:prstGeom>
          <a:solidFill>
            <a:srgbClr val="12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14600" y="365760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D4BF"/>
                </a:solidFill>
                <a:latin typeface="Arial"/>
              </a:defRPr>
            </a:pPr>
            <a:r>
              <a:t>JSON 本地 + pgvector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03520" y="3566160"/>
            <a:ext cx="6217920" cy="438912"/>
          </a:xfrm>
          <a:prstGeom prst="roundRect">
            <a:avLst/>
          </a:prstGeom>
          <a:solidFill>
            <a:srgbClr val="12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40680" y="365760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开发期零依赖本地缓存，生产级 pgvector 向量数据库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4059936"/>
            <a:ext cx="1645920" cy="43891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" y="415137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9EFF"/>
                </a:solidFill>
                <a:latin typeface="Arial"/>
              </a:defRPr>
            </a:pPr>
            <a:r>
              <a:t>网页爬虫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377440" y="4059936"/>
            <a:ext cx="2926080" cy="43891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14600" y="415137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D4BF"/>
                </a:solidFill>
                <a:latin typeface="Arial"/>
              </a:defRPr>
            </a:pPr>
            <a:r>
              <a:t>Crawl4AI (MIT)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03520" y="4059936"/>
            <a:ext cx="6217920" cy="43891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40680" y="415137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深度爬取 + Cookie 认证 + Cron 定时调度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1520" y="4553712"/>
            <a:ext cx="1645920" cy="438912"/>
          </a:xfrm>
          <a:prstGeom prst="roundRect">
            <a:avLst/>
          </a:prstGeom>
          <a:solidFill>
            <a:srgbClr val="12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80" y="46451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9EFF"/>
                </a:solidFill>
                <a:latin typeface="Arial"/>
              </a:defRPr>
            </a:pPr>
            <a:r>
              <a:t>Git 采集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377440" y="4553712"/>
            <a:ext cx="2926080" cy="438912"/>
          </a:xfrm>
          <a:prstGeom prst="roundRect">
            <a:avLst/>
          </a:prstGeom>
          <a:solidFill>
            <a:srgbClr val="12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14600" y="464515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D4BF"/>
                </a:solidFill>
                <a:latin typeface="Arial"/>
              </a:defRPr>
            </a:pPr>
            <a:r>
              <a:t>自建 Python 脚本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303520" y="4553712"/>
            <a:ext cx="6217920" cy="438912"/>
          </a:xfrm>
          <a:prstGeom prst="roundRect">
            <a:avLst/>
          </a:prstGeom>
          <a:solidFill>
            <a:srgbClr val="12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40680" y="464515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约 200 行，SHA256 去重与增量同步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5047488"/>
            <a:ext cx="1645920" cy="43891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513892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9EFF"/>
                </a:solidFill>
                <a:latin typeface="Arial"/>
              </a:defRPr>
            </a:pPr>
            <a:r>
              <a:t>定时调度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377440" y="5047488"/>
            <a:ext cx="2926080" cy="43891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514600" y="513892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D4BF"/>
                </a:solidFill>
                <a:latin typeface="Arial"/>
              </a:defRPr>
            </a:pPr>
            <a:r>
              <a:t>APScheduler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303520" y="5047488"/>
            <a:ext cx="6217920" cy="43891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40680" y="513892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Cron 表达式驱动，统一调度爬虫/采集/监控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1520" y="5541264"/>
            <a:ext cx="1645920" cy="438912"/>
          </a:xfrm>
          <a:prstGeom prst="roundRect">
            <a:avLst/>
          </a:prstGeom>
          <a:solidFill>
            <a:srgbClr val="12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8680" y="56327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9EFF"/>
                </a:solidFill>
                <a:latin typeface="Arial"/>
              </a:defRPr>
            </a:pPr>
            <a:r>
              <a:t>容器化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2377440" y="5541264"/>
            <a:ext cx="2926080" cy="438912"/>
          </a:xfrm>
          <a:prstGeom prst="roundRect">
            <a:avLst/>
          </a:prstGeom>
          <a:solidFill>
            <a:srgbClr val="12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514600" y="563270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D4BF"/>
                </a:solidFill>
                <a:latin typeface="Arial"/>
              </a:defRPr>
            </a:pPr>
            <a:r>
              <a:t>Docker Compose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303520" y="5541264"/>
            <a:ext cx="6217920" cy="438912"/>
          </a:xfrm>
          <a:prstGeom prst="roundRect">
            <a:avLst/>
          </a:prstGeom>
          <a:solidFill>
            <a:srgbClr val="12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40680" y="563270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一键启动全栈 (WeKnora + Neo4j + PostgreSQL)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0F5"/>
                </a:solidFill>
                <a:latin typeface="Arial"/>
              </a:defRPr>
            </a:pPr>
            <a:r>
              <a:t>LightRAG 独立服务 — 核心实现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5303520" cy="5486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9EFF"/>
                </a:solidFill>
                <a:latin typeface="Arial"/>
              </a:defRPr>
            </a:pPr>
            <a:r>
              <a:t>▎服务技术栈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9EFF"/>
                </a:solidFill>
                <a:latin typeface="Arial"/>
              </a:defRPr>
            </a:pPr>
            <a:r>
              <a:t>语言 / 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55448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Python 3 + Flask + Jinja2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4767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9EFF"/>
                </a:solidFill>
                <a:latin typeface="Arial"/>
              </a:defRPr>
            </a:pPr>
            <a:r>
              <a:t>代码规模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194767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app.py 1,403 行  +  index.html 2,132 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4086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9EFF"/>
                </a:solidFill>
                <a:latin typeface="Arial"/>
              </a:defRPr>
            </a:pPr>
            <a:r>
              <a:t>嵌入模型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340864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Ollama nomic-embed-text（本地 768 维，离线）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3405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9EFF"/>
                </a:solidFill>
                <a:latin typeface="Arial"/>
              </a:defRPr>
            </a:pPr>
            <a:r>
              <a:t>评分模型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73405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DeepSeek Chat API（综合关联度排名）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9EFF"/>
                </a:solidFill>
                <a:latin typeface="Arial"/>
              </a:defRPr>
            </a:pPr>
            <a:r>
              <a:t>搜索策略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12724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语义向量（优先）→ BM25 Fallback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520439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9EFF"/>
                </a:solidFill>
                <a:latin typeface="Arial"/>
              </a:defRPr>
            </a:pPr>
            <a:r>
              <a:t>文档聚合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3520439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doc_id 分组去重 + 有意义标题优先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91363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9EFF"/>
                </a:solidFill>
                <a:latin typeface="Arial"/>
              </a:defRPr>
            </a:pPr>
            <a:r>
              <a:t>评分公式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391363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综合关联度 = 语义 55% + 关键词强度 45%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306824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9EFF"/>
                </a:solidFill>
                <a:latin typeface="Arial"/>
              </a:defRPr>
            </a:pPr>
            <a:r>
              <a:t>输出增强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4306824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推荐理由 (reason_text) + 摘要 (one_sentence)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70001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9EFF"/>
                </a:solidFill>
                <a:latin typeface="Arial"/>
              </a:defRPr>
            </a:pPr>
            <a:r>
              <a:t>图谱引擎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70001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D3.js 力导向图 + 6 种正则实体抽取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9320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9EFF"/>
                </a:solidFill>
                <a:latin typeface="Arial"/>
              </a:defRPr>
            </a:pPr>
            <a:r>
              <a:t>Wiki 链接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509320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marked.js 扩展 → 前端 [[链接]] 解析导航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48640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9EFF"/>
                </a:solidFill>
                <a:latin typeface="Arial"/>
              </a:defRPr>
            </a:pPr>
            <a:r>
              <a:t>启动方式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040" y="548640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./start.sh [端口] 或 python app.py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879592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9EFF"/>
                </a:solidFill>
                <a:latin typeface="Arial"/>
              </a:defRPr>
            </a:pPr>
            <a:r>
              <a:t>端口范围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587959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23100-23109（环境变量 PORT 配置）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92240" y="1051560"/>
            <a:ext cx="4937760" cy="5486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1143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9EFF"/>
                </a:solidFill>
                <a:latin typeface="Arial"/>
              </a:defRPr>
            </a:pPr>
            <a:r>
              <a:t>▎REST API 端点（共 14 个）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15544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43D68C"/>
                </a:solidFill>
                <a:latin typeface="Arial"/>
              </a:defRPr>
            </a:pPr>
            <a:r>
              <a:t>GET  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155448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Web UI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1874519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43D68C"/>
                </a:solidFill>
                <a:latin typeface="Arial"/>
              </a:defRPr>
            </a:pPr>
            <a:r>
              <a:t>GET  /health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1874519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健康检查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21945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43D68C"/>
                </a:solidFill>
                <a:latin typeface="Arial"/>
              </a:defRPr>
            </a:pPr>
            <a:r>
              <a:t>POST /api/ingest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219456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文本录入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25146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43D68C"/>
                </a:solidFill>
                <a:latin typeface="Arial"/>
              </a:defRPr>
            </a:pPr>
            <a:r>
              <a:t>POST /api/ingest/url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251460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URL 采集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2834639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43D68C"/>
                </a:solidFill>
                <a:latin typeface="Arial"/>
              </a:defRPr>
            </a:pPr>
            <a:r>
              <a:t>POST /api/ingest/minimax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2834639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MiniMax 批量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31546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43D68C"/>
                </a:solidFill>
                <a:latin typeface="Arial"/>
              </a:defRPr>
            </a:pPr>
            <a:r>
              <a:t>POST /api/ingest/github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315468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GitHub 采集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34747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43D68C"/>
                </a:solidFill>
                <a:latin typeface="Arial"/>
              </a:defRPr>
            </a:pPr>
            <a:r>
              <a:t>POST /api/ingest/directory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347472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目录扫描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3794759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43D68C"/>
                </a:solidFill>
                <a:latin typeface="Arial"/>
              </a:defRPr>
            </a:pPr>
            <a:r>
              <a:t>POST /api/ingest/file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0" y="3794759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文件上传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75120" y="41148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43D68C"/>
                </a:solidFill>
                <a:latin typeface="Arial"/>
              </a:defRPr>
            </a:pPr>
            <a:r>
              <a:t>POST /api/query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0" y="411480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语义搜索 + AI 评分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443484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43D68C"/>
                </a:solidFill>
                <a:latin typeface="Arial"/>
              </a:defRPr>
            </a:pPr>
            <a:r>
              <a:t>GET  /api/graph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0" y="443484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知识图谱数据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47548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43D68C"/>
                </a:solidFill>
                <a:latin typeface="Arial"/>
              </a:defRPr>
            </a:pPr>
            <a:r>
              <a:t>GET  /api/stats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0" y="475488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统计信息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507492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43D68C"/>
                </a:solidFill>
                <a:latin typeface="Arial"/>
              </a:defRPr>
            </a:pPr>
            <a:r>
              <a:t>GET  /api/chunks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0" y="507492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文档分页列表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675120" y="5394959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43D68C"/>
                </a:solidFill>
                <a:latin typeface="Arial"/>
              </a:defRPr>
            </a:pPr>
            <a:r>
              <a:t>GET  /api/chunks/:id/download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52560" y="5394959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下载原文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571500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43D68C"/>
                </a:solidFill>
                <a:latin typeface="Arial"/>
              </a:defRPr>
            </a:pPr>
            <a:r>
              <a:t>POST /api/clear  +  DELETE /api/delete/:id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0" y="5715000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清空/删除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0F5"/>
                </a:solidFill>
                <a:latin typeface="Arial"/>
              </a:defRPr>
            </a:pPr>
            <a:r>
              <a:t>多源数据采集方案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2606040" cy="3154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43D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143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3D68C"/>
                </a:solidFill>
                <a:latin typeface="Arial"/>
              </a:defRPr>
            </a:pPr>
            <a:r>
              <a:t>🌐  网页采集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8A909E"/>
                </a:solidFill>
                <a:latin typeface="Arial"/>
              </a:defRPr>
            </a:pPr>
            <a:r>
              <a:t>• Crawl4AI MIT 开源引擎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984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8A909E"/>
                </a:solidFill>
                <a:latin typeface="Arial"/>
              </a:defRPr>
            </a:pPr>
            <a:r>
              <a:t>• 深度爬取 + URL 过滤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3682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8A909E"/>
                </a:solidFill>
                <a:latin typeface="Arial"/>
              </a:defRPr>
            </a:pPr>
            <a:r>
              <a:t>• Cookie / Form 登录态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7523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8A909E"/>
                </a:solidFill>
                <a:latin typeface="Arial"/>
              </a:defRPr>
            </a:pPr>
            <a:r>
              <a:t>• JS 动态渲染处理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13639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8A909E"/>
                </a:solidFill>
                <a:latin typeface="Arial"/>
              </a:defRPr>
            </a:pPr>
            <a:r>
              <a:t>• Markdown 输出 → 入库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520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8A909E"/>
                </a:solidFill>
                <a:latin typeface="Arial"/>
              </a:defRPr>
            </a:pPr>
            <a:r>
              <a:t>• Cron 定时调度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20439" y="1051560"/>
            <a:ext cx="2606040" cy="3154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A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85031" y="1143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78FF"/>
                </a:solidFill>
                <a:latin typeface="Arial"/>
              </a:defRPr>
            </a:pPr>
            <a:r>
              <a:t>🐙  GitHub 采集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1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8A909E"/>
                </a:solidFill>
                <a:latin typeface="Arial"/>
              </a:defRPr>
            </a:pPr>
            <a:r>
              <a:t>• Git Tree API 递归遍历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1" y="1984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8A909E"/>
                </a:solidFill>
                <a:latin typeface="Arial"/>
              </a:defRPr>
            </a:pPr>
            <a:r>
              <a:t>• raw.githubusercontent 高速下载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1" y="23682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8A909E"/>
                </a:solidFill>
                <a:latin typeface="Arial"/>
              </a:defRPr>
            </a:pPr>
            <a:r>
              <a:t>• 文档自动识别 (.md/.rst)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1" y="27523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8A909E"/>
                </a:solidFill>
                <a:latin typeface="Arial"/>
              </a:defRPr>
            </a:pPr>
            <a:r>
              <a:t>• SHA256 内容哈希去重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5031" y="313639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8A909E"/>
                </a:solidFill>
                <a:latin typeface="Arial"/>
              </a:defRPr>
            </a:pPr>
            <a:r>
              <a:t>• Private Repo (Token)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1" y="3520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8A909E"/>
                </a:solidFill>
                <a:latin typeface="Arial"/>
              </a:defRPr>
            </a:pPr>
            <a:r>
              <a:t>• 批量上限 200 文件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1051560"/>
            <a:ext cx="2606040" cy="3154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3951" y="1143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A623"/>
                </a:solidFill>
                <a:latin typeface="Arial"/>
              </a:defRPr>
            </a:pPr>
            <a:r>
              <a:t>📁  目录扫描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1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8A909E"/>
                </a:solidFill>
                <a:latin typeface="Arial"/>
              </a:defRPr>
            </a:pPr>
            <a:r>
              <a:t>• 递归扫描 (深度 ≤ 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1" y="1984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8A909E"/>
                </a:solidFill>
                <a:latin typeface="Arial"/>
              </a:defRPr>
            </a:pPr>
            <a:r>
              <a:t>• 扩展名白名单过滤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1" y="23682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8A909E"/>
                </a:solidFill>
                <a:latin typeface="Arial"/>
              </a:defRPr>
            </a:pPr>
            <a:r>
              <a:t>• 排除 node_modules/.git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1" y="27523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8A909E"/>
                </a:solidFill>
                <a:latin typeface="Arial"/>
              </a:defRPr>
            </a:pPr>
            <a:r>
              <a:t>• 增量同步 (watchdog)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3951" y="313639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8A909E"/>
                </a:solidFill>
                <a:latin typeface="Arial"/>
              </a:defRPr>
            </a:pPr>
            <a:r>
              <a:t>• APScheduler 定时扫描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1051560"/>
            <a:ext cx="2606040" cy="3154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0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62872" y="1143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5B5B"/>
                </a:solidFill>
                <a:latin typeface="Arial"/>
              </a:defRPr>
            </a:pPr>
            <a:r>
              <a:t>📤  文件上传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2872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8A909E"/>
                </a:solidFill>
                <a:latin typeface="Arial"/>
              </a:defRPr>
            </a:pPr>
            <a:r>
              <a:t>• Web UI 拖拽/点击上传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19842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8A909E"/>
                </a:solidFill>
                <a:latin typeface="Arial"/>
              </a:defRPr>
            </a:pPr>
            <a:r>
              <a:t>• UTF-8 编码自动识别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62872" y="23682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8A909E"/>
                </a:solidFill>
                <a:latin typeface="Arial"/>
              </a:defRPr>
            </a:pPr>
            <a:r>
              <a:t>• 元数据自动提取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2872" y="275234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8A909E"/>
                </a:solidFill>
                <a:latin typeface="Arial"/>
              </a:defRPr>
            </a:pPr>
            <a:r>
              <a:t>• MD5 内容去重检测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2872" y="3136391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8A909E"/>
                </a:solidFill>
                <a:latin typeface="Arial"/>
              </a:defRPr>
            </a:pPr>
            <a:r>
              <a:t>• 即时入库，即可搜索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434840"/>
            <a:ext cx="10728655" cy="21488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52627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9EFF"/>
                </a:solidFill>
                <a:latin typeface="Arial"/>
              </a:defRPr>
            </a:pPr>
            <a:r>
              <a:t>▎去重策略与调度机制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937759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8A909E"/>
                </a:solidFill>
                <a:latin typeface="Arial"/>
              </a:defRPr>
            </a:pPr>
            <a:r>
              <a:t>• 去重策略：录入时 MD5 哈希 + Git 采集时 SHA256 哈希，同一内容不会重复入库，增量更新零冗余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5285231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8A909E"/>
                </a:solidFill>
                <a:latin typeface="Arial"/>
              </a:defRPr>
            </a:pPr>
            <a:r>
              <a:t>• 调度机制：APScheduler Cron 表达式 — Crawl4AI / Git Ingester / File Watcher 各自独立配置，互不干扰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632703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8A909E"/>
                </a:solidFill>
                <a:latin typeface="Arial"/>
              </a:defRPr>
            </a:pPr>
            <a:r>
              <a:t>• 状态追踪：每次采集记录文档数量 / 更新时间 / 成功 &amp; 跳过计数，错误详情写入日志文件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" y="5980175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8A909E"/>
                </a:solidFill>
                <a:latin typeface="Arial"/>
              </a:defRPr>
            </a:pPr>
            <a:r>
              <a:t>• 网络策略：Embedding 默认本地 Ollama（零外网依赖）；仅 AI 评分使用 DeepSeek API；生产环境切换内网模型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0F5"/>
                </a:solidFill>
                <a:latin typeface="Arial"/>
              </a:defRPr>
            </a:pPr>
            <a:r>
              <a:t>语义搜索 + AI 智能评分引擎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10728655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9EFF"/>
                </a:solidFill>
                <a:latin typeface="Arial"/>
              </a:defRPr>
            </a:pPr>
            <a:r>
              <a:t>▎四级检索管道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2407843" cy="1554480"/>
          </a:xfrm>
          <a:prstGeom prst="roundRect">
            <a:avLst/>
          </a:prstGeom>
          <a:solidFill>
            <a:srgbClr val="12181E"/>
          </a:solidFill>
          <a:ln w="12700">
            <a:solidFill>
              <a:srgbClr val="63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54480"/>
            <a:ext cx="21883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39EFF"/>
                </a:solidFill>
                <a:latin typeface="Arial"/>
              </a:defRPr>
            </a:pPr>
            <a:r>
              <a:t>① 语义向量检索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1920240"/>
            <a:ext cx="2188387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8A909E"/>
                </a:solidFill>
                <a:latin typeface="Arial"/>
              </a:defRPr>
            </a:pPr>
            <a:r>
              <a:t>Ollama Embedding</a:t>
            </a:r>
            <a:br/>
            <a:r>
              <a:t>余弦相似度 Top-K 召回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05123" y="1463040"/>
            <a:ext cx="2407843" cy="1554480"/>
          </a:xfrm>
          <a:prstGeom prst="roundRect">
            <a:avLst/>
          </a:prstGeom>
          <a:solidFill>
            <a:srgbClr val="12181E"/>
          </a:solidFill>
          <a:ln w="12700">
            <a:solidFill>
              <a:srgbClr val="43D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4851" y="1554480"/>
            <a:ext cx="21883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43D68C"/>
                </a:solidFill>
                <a:latin typeface="Arial"/>
              </a:defRPr>
            </a:pPr>
            <a:r>
              <a:t>② 关键词 BM25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4851" y="1920240"/>
            <a:ext cx="2188387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8A909E"/>
                </a:solidFill>
                <a:latin typeface="Arial"/>
              </a:defRPr>
            </a:pPr>
            <a:r>
              <a:t>中英文分词匹配</a:t>
            </a:r>
            <a:br/>
            <a:r>
              <a:t>Fallback 补充候选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95847" y="1463040"/>
            <a:ext cx="2407843" cy="1554480"/>
          </a:xfrm>
          <a:prstGeom prst="roundRect">
            <a:avLst/>
          </a:prstGeom>
          <a:solidFill>
            <a:srgbClr val="12181E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05575" y="1554480"/>
            <a:ext cx="21883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5A623"/>
                </a:solidFill>
                <a:latin typeface="Arial"/>
              </a:defRPr>
            </a:pPr>
            <a:r>
              <a:t>③ 文档聚合去重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5575" y="1920240"/>
            <a:ext cx="2188387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8A909E"/>
                </a:solidFill>
                <a:latin typeface="Arial"/>
              </a:defRPr>
            </a:pPr>
            <a:r>
              <a:t>doc_id 分组</a:t>
            </a:r>
            <a:br/>
            <a:r>
              <a:t>有意义标题优先展示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571" y="1463040"/>
            <a:ext cx="2407843" cy="1554480"/>
          </a:xfrm>
          <a:prstGeom prst="roundRect">
            <a:avLst/>
          </a:prstGeom>
          <a:solidFill>
            <a:srgbClr val="12181E"/>
          </a:solidFill>
          <a:ln w="12700">
            <a:solidFill>
              <a:srgbClr val="A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96299" y="1554480"/>
            <a:ext cx="2188387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78FF"/>
                </a:solidFill>
                <a:latin typeface="Arial"/>
              </a:defRPr>
            </a:pPr>
            <a:r>
              <a:t>④ 综合排名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6299" y="1920240"/>
            <a:ext cx="2188387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8A909E"/>
                </a:solidFill>
                <a:latin typeface="Arial"/>
              </a:defRPr>
            </a:pPr>
            <a:r>
              <a:t>语义 55% + 关键词 45%</a:t>
            </a:r>
            <a:br/>
            <a:r>
              <a:t>生成推荐理由与摘要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273552"/>
            <a:ext cx="10728655" cy="329184"/>
          </a:xfrm>
          <a:prstGeom prst="roundRect">
            <a:avLst/>
          </a:prstGeom>
          <a:solidFill>
            <a:srgbClr val="12181E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319272"/>
            <a:ext cx="10545775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输出：统一排名列表，每项含 _rel 分类标签、_reason 推荐理由、_summary 文档摘要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776472"/>
            <a:ext cx="5204307" cy="30175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867911"/>
            <a:ext cx="48385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9EFF"/>
                </a:solidFill>
                <a:latin typeface="Arial"/>
              </a:defRPr>
            </a:pPr>
            <a:r>
              <a:t>▎Embedding 策略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279392"/>
            <a:ext cx="44727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默认：Ollama nomic-embed-text（768 维，本地）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663440"/>
            <a:ext cx="44727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备选：DeepSeek Embedding API（1536 维）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47488"/>
            <a:ext cx="44727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切换：EMBEDDING_PROVIDER 环境变量控制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431536"/>
            <a:ext cx="44727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缓存：embeddings.json 增量计算与重用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815583"/>
            <a:ext cx="44727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异步：后台线程计算，不阻塞 HTTP 响应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6199631"/>
            <a:ext cx="44727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降级：无 Ollama 时自动切换 BM25 关键词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55867" y="3776472"/>
            <a:ext cx="5204307" cy="30175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38747" y="3867911"/>
            <a:ext cx="48385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9EFF"/>
                </a:solidFill>
                <a:latin typeface="Arial"/>
              </a:defRPr>
            </a:pPr>
            <a:r>
              <a:t>▎AI 评分信号体系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1627" y="4279392"/>
            <a:ext cx="44727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phrase_hit  — 完整中文词组在标题中出现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1627" y="4663440"/>
            <a:ext cx="44727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n_bigrams   — 非重叠二元组标题命中数量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1627" y="5047488"/>
            <a:ext cx="44727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en_hit      — 英文单词词边界匹配 (≥3 字符)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1627" y="5431536"/>
            <a:ext cx="44727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text_hit    — 正文全匹配 / 短语 / 首二元组命中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1627" y="5815583"/>
            <a:ext cx="44727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kw_strength — 关键词匹配置信度 (0~1)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1627" y="6199631"/>
            <a:ext cx="44727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综合排名    — sem×0.55 + kw×0.45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0F5"/>
                </a:solidFill>
                <a:latin typeface="Arial"/>
              </a:defRPr>
            </a:pPr>
            <a:r>
              <a:t>知识图谱可视化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5486400" cy="53035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9EFF"/>
                </a:solidFill>
                <a:latin typeface="Arial"/>
              </a:defRPr>
            </a:pPr>
            <a:r>
              <a:t>▎D3.js 力导向图引擎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7276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9EFF"/>
                </a:solidFill>
                <a:latin typeface="Arial"/>
              </a:defRPr>
            </a:pPr>
            <a:r>
              <a:t>节点类型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57276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Chunk — 文档分块碎片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95681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Entity — 自动抽取的实体关键词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40864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9EFF"/>
                </a:solidFill>
                <a:latin typeface="Arial"/>
              </a:defRPr>
            </a:pPr>
            <a:r>
              <a:t>实体抽取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34086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6 种正则模式：技术术语、中文短语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72491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书名号《》、模型名、专有名词、版本号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0896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9EFF"/>
                </a:solidFill>
                <a:latin typeface="Arial"/>
              </a:defRPr>
            </a:pPr>
            <a:r>
              <a:t>关系类型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10896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mentions — 文档片段提及某实体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493008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9EFF"/>
                </a:solidFill>
                <a:latin typeface="Arial"/>
              </a:defRPr>
            </a:pPr>
            <a:r>
              <a:t>过滤策略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349300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出现频率 2-5 次保留，Top-8 优先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87705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最多 60 实体节点，保障渲染性能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61104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9EFF"/>
                </a:solidFill>
                <a:latin typeface="Arial"/>
              </a:defRPr>
            </a:pPr>
            <a:r>
              <a:t>交互功能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4261104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拖拽 / 缩放 / 悬停 Tooltip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4645152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单击高亮邻域 + 节点类型筛选器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02920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9EFF"/>
                </a:solidFill>
                <a:latin typeface="Arial"/>
              </a:defRPr>
            </a:pPr>
            <a:r>
              <a:t>关联面板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5029200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选中节点 → 侧栏展示关联文档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5413248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点击关联文档 → 详情 Modal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797296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639EFF"/>
                </a:solidFill>
                <a:latin typeface="Arial"/>
              </a:defRPr>
            </a:pPr>
            <a:r>
              <a:t>图例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5797296"/>
            <a:ext cx="3383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紫 = Chunk  蓝 = Entity  边 = mentions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75120" y="1051560"/>
            <a:ext cx="4754880" cy="22860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11430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3D68C"/>
                </a:solidFill>
                <a:latin typeface="Arial"/>
              </a:defRPr>
            </a:pPr>
            <a:r>
              <a:t>▎Markdown 渲染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0" y="157276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marked.js 客户端渲染引擎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19202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完整 GF Markdown 语法支持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226771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代码块语法高亮，表格自适应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2615184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暗色主题全组件统一配色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296265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Modal 弹窗全文展示 + 下载功能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75120" y="3566160"/>
            <a:ext cx="4754880" cy="27889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36576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78FF"/>
                </a:solidFill>
                <a:latin typeface="Arial"/>
              </a:defRPr>
            </a:pPr>
            <a:r>
              <a:t>▎[[WikiLink]] 导航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087368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语法：[[文档标题]] 或 [[关键词]]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44348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前端 marked.js Renderer 扩展解析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782312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点击自动在知识库中搜索同名文档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0" y="5129783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命中则 Modal 展示 Markdown 原文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5477256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未命中则触发全文语义搜索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5824727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实现 Obsidian 式交叉引用体验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0F5"/>
                </a:solidFill>
                <a:latin typeface="Arial"/>
              </a:defRPr>
            </a:pPr>
            <a:r>
              <a:t>Web UI — 四大功能页面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2606040" cy="3154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63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1430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9EFF"/>
                </a:solidFill>
                <a:latin typeface="Arial"/>
              </a:defRPr>
            </a:pPr>
            <a:r>
              <a:t>📊  总览 (Dashboard)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6459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知识库统计卡片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2140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快捷摄入入口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59689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采集历史时间线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07238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一键清空/重置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39" y="1051560"/>
            <a:ext cx="2606040" cy="3154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43D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1" y="11430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3D68C"/>
                </a:solidFill>
                <a:latin typeface="Arial"/>
              </a:defRPr>
            </a:pPr>
            <a:r>
              <a:t>💬  智能问答 (Query)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85031" y="16459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自然语言问题输入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1" y="212140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语义搜索 + 综合排名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85031" y="259689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推荐理由 + 文档摘要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5031" y="307238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展开原文 + Markdown 预览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1" y="35478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来源 Badge 标识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59" y="1051560"/>
            <a:ext cx="2606040" cy="3154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A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1" y="11430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78FF"/>
                </a:solidFill>
                <a:latin typeface="Arial"/>
              </a:defRPr>
            </a:pPr>
            <a:r>
              <a:t>🕸️  知识图谱 (Graph)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1" y="16459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D3.js 力导向交互图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1" y="212140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节点类型筛选器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1" y="259689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悬停 Tooltip + 单击高亮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1" y="307238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关联文档侧栏面板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1" y="35478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缩放/拖拽/重置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1051560"/>
            <a:ext cx="2606040" cy="3154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62872" y="11430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A623"/>
                </a:solidFill>
                <a:latin typeface="Arial"/>
              </a:defRPr>
            </a:pPr>
            <a:r>
              <a:t>📋  知识管理 (Manage)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2872" y="1645920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分页浏览全部文档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2121408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按标题/来源搜索过滤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62872" y="2596896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详情 Modal + Markdown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62872" y="3072384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下载原文件 / 删除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62872" y="354787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批量管理操作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434840"/>
            <a:ext cx="10728655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5262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9EFF"/>
                </a:solidFill>
                <a:latin typeface="Arial"/>
              </a:defRPr>
            </a:pPr>
            <a:r>
              <a:t>▎典型用户操作流程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9377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8A909E"/>
                </a:solidFill>
                <a:latin typeface="Arial"/>
              </a:defRPr>
            </a:pPr>
            <a:r>
              <a:t>• 知识录入：导航栏选来源（网页/Git/目录/文件）→ 输入 URL 或选择文件 → 后台解析分块 + Embedding → 即时可搜索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3949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8A909E"/>
                </a:solidFill>
                <a:latin typeface="Arial"/>
              </a:defRPr>
            </a:pPr>
            <a:r>
              <a:t>• 知识检索：左侧 → 智能问答 → 输入自然语言问题 → AI 返回排名结果 + 推荐理由 → 点击展开原文 → [[Wiki链接]] 横向跳转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8521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50" b="0">
                <a:solidFill>
                  <a:srgbClr val="8A909E"/>
                </a:solidFill>
                <a:latin typeface="Arial"/>
              </a:defRPr>
            </a:pPr>
            <a:r>
              <a:t>• 图谱探索：左侧 → 知识图谱 → 浏览整体结构 → 点击节点聚焦 → 侧栏显示关联文档 → 逐层深入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0F5"/>
                </a:solidFill>
                <a:latin typeface="Arial"/>
              </a:defRPr>
            </a:pPr>
            <a:r>
              <a:t>部署架构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530352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3D68C"/>
                </a:solidFill>
                <a:latin typeface="Arial"/>
              </a:defRPr>
            </a:pPr>
            <a:r>
              <a:t>▎开发模式 (dev)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目录：/Users/pankang/mycode/WikiService/lightrag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47088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启动：./start.sh [端口]（默认 8080）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39696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存储：本地 ./data（text_chunks + embeddings）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32304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日志：输出到 stderr，无文件持久化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24912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依赖：Python venv + DeepSeek API Key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017520"/>
            <a:ext cx="4754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适用：本地开发、功能调试、数据探索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051560"/>
            <a:ext cx="4937760" cy="21945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1143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05B5B"/>
                </a:solidFill>
                <a:latin typeface="Arial"/>
              </a:defRPr>
            </a:pPr>
            <a:r>
              <a:t>▎生产部署 (prod)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55448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目录：/opt/yuyutian/WikiService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847088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同步：./deploy.sh (rsync，排除 venv/data)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139696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启动：PORT=23100 KEY=xxx python app.py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432304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日志：/opt/yuyutian/logs/WikiService/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724912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端口：23100-23109（多实例并行）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017520"/>
            <a:ext cx="4389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• 数据：data/ 独立于代码，持久化保留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520440"/>
            <a:ext cx="10728655" cy="31089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63016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9EFF"/>
                </a:solidFill>
                <a:latin typeface="Arial"/>
              </a:defRPr>
            </a:pPr>
            <a:r>
              <a:t>▎Docker Compose 全栈部署（WeKnora 模式）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023360"/>
            <a:ext cx="1920240" cy="237744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04164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639EFF"/>
                </a:solidFill>
                <a:latin typeface="Arial"/>
              </a:defRPr>
            </a:pPr>
            <a:r>
              <a:t>weknora-api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40416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Go 服务，核心 Web API 引擎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404164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06E"/>
                </a:solidFill>
                <a:latin typeface="Arial"/>
              </a:defRPr>
            </a:pPr>
            <a:r>
              <a:t>3000→8080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297680"/>
            <a:ext cx="1920240" cy="237744"/>
          </a:xfrm>
          <a:prstGeom prst="roundRect">
            <a:avLst/>
          </a:prstGeom>
          <a:solidFill>
            <a:srgbClr val="12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431596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639EFF"/>
                </a:solidFill>
                <a:latin typeface="Arial"/>
              </a:defRPr>
            </a:pPr>
            <a:r>
              <a:t>weknora-ui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31596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React 前端管理控制台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431596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06E"/>
                </a:solidFill>
                <a:latin typeface="Arial"/>
              </a:defRPr>
            </a:pPr>
            <a:r>
              <a:t>8080→80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572000"/>
            <a:ext cx="1920240" cy="237744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552" y="459028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639EFF"/>
                </a:solidFill>
                <a:latin typeface="Arial"/>
              </a:defRPr>
            </a:pPr>
            <a:r>
              <a:t>postgres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45902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pgvector/pgvector:pg16 向量数据库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459028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06E"/>
                </a:solidFill>
                <a:latin typeface="Arial"/>
              </a:defRPr>
            </a:pPr>
            <a:r>
              <a:t>5432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4846320"/>
            <a:ext cx="1920240" cy="237744"/>
          </a:xfrm>
          <a:prstGeom prst="roundRect">
            <a:avLst/>
          </a:prstGeom>
          <a:solidFill>
            <a:srgbClr val="12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486460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639EFF"/>
                </a:solidFill>
                <a:latin typeface="Arial"/>
              </a:defRPr>
            </a:pPr>
            <a:r>
              <a:t>neo4j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486460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Neo4j 5.26 Community 图数据库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26880" y="48646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06E"/>
                </a:solidFill>
                <a:latin typeface="Arial"/>
              </a:defRPr>
            </a:pPr>
            <a:r>
              <a:t>7474/7687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120640"/>
            <a:ext cx="1920240" cy="237744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7552" y="513892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639EFF"/>
                </a:solidFill>
                <a:latin typeface="Arial"/>
              </a:defRPr>
            </a:pPr>
            <a:r>
              <a:t>crawler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513892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Crawl4AI 定时网页爬虫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513892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06E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" y="5394960"/>
            <a:ext cx="1920240" cy="237744"/>
          </a:xfrm>
          <a:prstGeom prst="roundRect">
            <a:avLst/>
          </a:prstGeom>
          <a:solidFill>
            <a:srgbClr val="12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7552" y="541324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639EFF"/>
                </a:solidFill>
                <a:latin typeface="Arial"/>
              </a:defRPr>
            </a:pPr>
            <a:r>
              <a:t>scheduler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0" y="541324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APScheduler 统一任务调度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541324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06E"/>
                </a:solidFill>
                <a:latin typeface="Arial"/>
              </a:defRPr>
            </a:pPr>
            <a:r>
              <a:t>—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4400" y="5669280"/>
            <a:ext cx="1920240" cy="237744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7552" y="568756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639EFF"/>
                </a:solidFill>
                <a:latin typeface="Arial"/>
              </a:defRPr>
            </a:pPr>
            <a:r>
              <a:t>mcp-server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017520" y="568756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MCP 标准协议服务端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26880" y="568756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06E"/>
                </a:solidFill>
                <a:latin typeface="Arial"/>
              </a:defRPr>
            </a:pPr>
            <a:r>
              <a:t>3100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4400" y="5943600"/>
            <a:ext cx="1920240" cy="237744"/>
          </a:xfrm>
          <a:prstGeom prst="roundRect">
            <a:avLst/>
          </a:prstGeom>
          <a:solidFill>
            <a:srgbClr val="121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7552" y="596188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639EFF"/>
                </a:solidFill>
                <a:latin typeface="Arial"/>
              </a:defRPr>
            </a:pPr>
            <a:r>
              <a:t>monitoring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17520" y="596188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Prometheus → Grafana 监控告警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596188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06E"/>
                </a:solidFill>
                <a:latin typeface="Arial"/>
              </a:defRPr>
            </a:pPr>
            <a:r>
              <a:t>9090/3001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4400" y="6217920"/>
            <a:ext cx="1920240" cy="237744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87552" y="6236208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639EFF"/>
                </a:solidFill>
                <a:latin typeface="Arial"/>
              </a:defRPr>
            </a:pPr>
            <a:r>
              <a:t>backup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017520" y="6236208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8A909E"/>
                </a:solidFill>
                <a:latin typeface="Arial"/>
              </a:defRPr>
            </a:pPr>
            <a:r>
              <a:t>Shell 脚本 → 数据库/文件定时备份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6880" y="6236208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06E"/>
                </a:solidFill>
                <a:latin typeface="Arial"/>
              </a:defRPr>
            </a:pPr>
            <a:r>
              <a:t>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0F5"/>
                </a:solidFill>
                <a:latin typeface="Arial"/>
              </a:defRPr>
            </a:pPr>
            <a:r>
              <a:t>MCP 协议与 AI Agent 集成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5029200" cy="2560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9EFF"/>
                </a:solidFill>
                <a:latin typeface="Arial"/>
              </a:defRPr>
            </a:pPr>
            <a:r>
              <a:t>▎MCP 工具列表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3D68C"/>
                </a:solidFill>
                <a:latin typeface="Arial"/>
              </a:defRPr>
            </a:pPr>
            <a:r>
              <a:t>search_wiki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554480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09E"/>
                </a:solidFill>
                <a:latin typeface="Arial"/>
              </a:defRPr>
            </a:pPr>
            <a:r>
              <a:t>关键词搜索 → Top-K 文档 + 关联关系图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4767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3D68C"/>
                </a:solidFill>
                <a:latin typeface="Arial"/>
              </a:defRPr>
            </a:pPr>
            <a:r>
              <a:t>explore_relations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947672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09E"/>
                </a:solidFill>
                <a:latin typeface="Arial"/>
              </a:defRPr>
            </a:pPr>
            <a:r>
              <a:t>从指定文档出发，控制深度扩展探索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40864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3D68C"/>
                </a:solidFill>
                <a:latin typeface="Arial"/>
              </a:defRPr>
            </a:pPr>
            <a:r>
              <a:t>ingest_webpage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34086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09E"/>
                </a:solidFill>
                <a:latin typeface="Arial"/>
              </a:defRPr>
            </a:pPr>
            <a:r>
              <a:t>手动触发网页采集（含深度爬取选项）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73405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3D68C"/>
                </a:solidFill>
                <a:latin typeface="Arial"/>
              </a:defRPr>
            </a:pPr>
            <a:r>
              <a:t>ingest_git_repo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734056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09E"/>
                </a:solidFill>
                <a:latin typeface="Arial"/>
              </a:defRPr>
            </a:pPr>
            <a:r>
              <a:t>手动触发 Git 仓库文档采集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127248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3D68C"/>
                </a:solidFill>
                <a:latin typeface="Arial"/>
              </a:defRPr>
            </a:pPr>
            <a:r>
              <a:t>get_wiki_graph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12724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09E"/>
                </a:solidFill>
                <a:latin typeface="Arial"/>
              </a:defRPr>
            </a:pPr>
            <a:r>
              <a:t>获取知识图谱完整结构或子图查询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051560"/>
            <a:ext cx="5212080" cy="25603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143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3D68C"/>
                </a:solidFill>
                <a:latin typeface="Arial"/>
              </a:defRPr>
            </a:pPr>
            <a:r>
              <a:t>▎Agent 典型调用链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55448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09E"/>
                </a:solidFill>
                <a:latin typeface="Arial"/>
              </a:defRPr>
            </a:pPr>
            <a:r>
              <a:t>① 用户输入：「微服务架构最佳实践」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1892807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09E"/>
                </a:solidFill>
                <a:latin typeface="Arial"/>
              </a:defRPr>
            </a:pPr>
            <a:r>
              <a:t>② Agent 调用 search_wiki(query)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231136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09E"/>
                </a:solidFill>
                <a:latin typeface="Arial"/>
              </a:defRPr>
            </a:pPr>
            <a:r>
              <a:t>③ 返回 Top-K 文档 + 关联关系图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569463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09E"/>
                </a:solidFill>
                <a:latin typeface="Arial"/>
              </a:defRPr>
            </a:pPr>
            <a:r>
              <a:t>④ Agent 调用 explore_relations(doc_id)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907791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09E"/>
                </a:solidFill>
                <a:latin typeface="Arial"/>
              </a:defRPr>
            </a:pPr>
            <a:r>
              <a:t>⑤ 获取多跳关联文档链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246120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09E"/>
                </a:solidFill>
                <a:latin typeface="Arial"/>
              </a:defRPr>
            </a:pPr>
            <a:r>
              <a:t>⑥ Agent 综合回答 + 引用来源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886200"/>
            <a:ext cx="10728655" cy="2743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995928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78FF"/>
                </a:solidFill>
                <a:latin typeface="Arial"/>
              </a:defRPr>
            </a:pPr>
            <a:r>
              <a:t>▎Obsidian 式关联查询 — 四级检索链（WeKnora + Neo4j 全栈方案）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4389120"/>
            <a:ext cx="2407843" cy="1965960"/>
          </a:xfrm>
          <a:prstGeom prst="roundRect">
            <a:avLst/>
          </a:prstGeom>
          <a:solidFill>
            <a:srgbClr val="12181E"/>
          </a:solidFill>
          <a:ln w="12700">
            <a:solidFill>
              <a:srgbClr val="639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4498848"/>
            <a:ext cx="218838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9EFF"/>
                </a:solidFill>
                <a:latin typeface="Arial"/>
              </a:defRPr>
            </a:pPr>
            <a:r>
              <a:t>语义向量检索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4846320"/>
            <a:ext cx="2188387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8A909E"/>
                </a:solidFill>
                <a:latin typeface="Arial"/>
              </a:defRPr>
            </a:pPr>
            <a:r>
              <a:t>BGE-M3 Embedding</a:t>
            </a:r>
            <a:br/>
            <a:r>
              <a:t>pgvector Top-20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05123" y="4389120"/>
            <a:ext cx="2407843" cy="1965960"/>
          </a:xfrm>
          <a:prstGeom prst="roundRect">
            <a:avLst/>
          </a:prstGeom>
          <a:solidFill>
            <a:srgbClr val="12181E"/>
          </a:solidFill>
          <a:ln w="12700">
            <a:solidFill>
              <a:srgbClr val="43D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4851" y="4498848"/>
            <a:ext cx="218838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3D68C"/>
                </a:solidFill>
                <a:latin typeface="Arial"/>
              </a:defRPr>
            </a:pPr>
            <a:r>
              <a:t>关键词 BM25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4851" y="4846320"/>
            <a:ext cx="2188387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8A909E"/>
                </a:solidFill>
                <a:latin typeface="Arial"/>
              </a:defRPr>
            </a:pPr>
            <a:r>
              <a:t>中英文分词匹配</a:t>
            </a:r>
            <a:br/>
            <a:r>
              <a:t>补充候选合并去重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95847" y="4389120"/>
            <a:ext cx="2407843" cy="1965960"/>
          </a:xfrm>
          <a:prstGeom prst="roundRect">
            <a:avLst/>
          </a:prstGeom>
          <a:solidFill>
            <a:srgbClr val="12181E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05575" y="4498848"/>
            <a:ext cx="218838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A623"/>
                </a:solidFill>
                <a:latin typeface="Arial"/>
              </a:defRPr>
            </a:pPr>
            <a:r>
              <a:t>图谱扩展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05575" y="4846320"/>
            <a:ext cx="2188387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8A909E"/>
                </a:solidFill>
                <a:latin typeface="Arial"/>
              </a:defRPr>
            </a:pPr>
            <a:r>
              <a:t>Neo4j MATCH 遍历</a:t>
            </a:r>
            <a:br/>
            <a:r>
              <a:t>显式+语义+标签关联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571" y="4389120"/>
            <a:ext cx="2407843" cy="1965960"/>
          </a:xfrm>
          <a:prstGeom prst="roundRect">
            <a:avLst/>
          </a:prstGeom>
          <a:solidFill>
            <a:srgbClr val="12181E"/>
          </a:solidFill>
          <a:ln w="12700">
            <a:solidFill>
              <a:srgbClr val="A77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96299" y="4498848"/>
            <a:ext cx="2188387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78FF"/>
                </a:solidFill>
                <a:latin typeface="Arial"/>
              </a:defRPr>
            </a:pPr>
            <a:r>
              <a:t>社区检测排序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96299" y="4846320"/>
            <a:ext cx="2188387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8A909E"/>
                </a:solidFill>
                <a:latin typeface="Arial"/>
              </a:defRPr>
            </a:pPr>
            <a:r>
              <a:t>Louvain 分组</a:t>
            </a:r>
            <a:br/>
            <a:r>
              <a:t>PageRank → 结构化图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0F0F5"/>
                </a:solidFill>
                <a:latin typeface="Arial"/>
              </a:defRPr>
            </a:pPr>
            <a:r>
              <a:t>项目状态与总结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5303520" cy="2743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3D68C"/>
                </a:solidFill>
                <a:latin typeface="Arial"/>
              </a:defRPr>
            </a:pPr>
            <a:r>
              <a:t>▎✅ 已完成 (2026-05-15)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57276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✓ LightRAG 独立服务 — app.py 1,403行 + index.html 2,132行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4708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✓ 多源采集 — URL / GitHub / 目录 / 文件 / 手动 共 5 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12140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✓ 语义搜索 — Ollama Embedding + BM25 Fallback 双引擎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39572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✓ AI 评分 — 综合关联度 = 语义55%+关键词45%，含推荐理由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67004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✓ 知识图谱 — D3.js 力导向图 + 6 种实体自动抽取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4436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✓ Wiki 导航 — [[链接]] 前端解析 + Markdown Modal 渲染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18687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✓ 双模式部署 — dev (start.sh) + prod (deploy.sh)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93008"/>
            <a:ext cx="4754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✓ Docker 方案 — WeKnora + Neo4j + PostgreSQL + 监控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1051560"/>
            <a:ext cx="4937760" cy="27432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143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5A623"/>
                </a:solidFill>
                <a:latin typeface="Arial"/>
              </a:defRPr>
            </a:pPr>
            <a:r>
              <a:t>▎🔮 后续规划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572768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→ Neo4j 图数据库接入，增强图谱关联能力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847088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→ MCP Server 独立 Docker 部署完善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2121408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→ 用户认证 + 多租户权限管理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395728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→ Prometheus + Grafana 生产监控告警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670048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→ 备份恢复自动化 + 定时巡检脚本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44368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→ Crawl4AI 深度爬取调度集成完善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3218687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→ Elasticsearch 全文索引优化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0" y="3493008"/>
            <a:ext cx="4389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A909E"/>
                </a:solidFill>
                <a:latin typeface="Arial"/>
              </a:defRPr>
            </a:pPr>
            <a:r>
              <a:t>→ 内网 LLM 部署，替代 DeepSeek 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023360"/>
            <a:ext cx="10728655" cy="26060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133087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39EFF"/>
                </a:solidFill>
                <a:latin typeface="Arial"/>
              </a:defRPr>
            </a:pPr>
            <a:r>
              <a:t>▎📊 技术指标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52628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06E"/>
                </a:solidFill>
                <a:latin typeface="Arial"/>
              </a:defRPr>
            </a:pPr>
            <a:r>
              <a:t>核心代码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70916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9EFF"/>
                </a:solidFill>
                <a:latin typeface="Arial"/>
              </a:defRPr>
            </a:pPr>
            <a:r>
              <a:t>app.py   1,403 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98348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09E"/>
                </a:solidFill>
                <a:latin typeface="Arial"/>
              </a:defRPr>
            </a:pPr>
            <a:r>
              <a:t>Flask 单文件完整实现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452628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06E"/>
                </a:solidFill>
                <a:latin typeface="Arial"/>
              </a:defRPr>
            </a:pPr>
            <a:r>
              <a:t>API 端点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470916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9EFF"/>
                </a:solidFill>
                <a:latin typeface="Arial"/>
              </a:defRPr>
            </a:pPr>
            <a:r>
              <a:t>14 个 REST API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498348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09E"/>
                </a:solidFill>
                <a:latin typeface="Arial"/>
              </a:defRPr>
            </a:pPr>
            <a:r>
              <a:t>覆盖采集/搜索/图谱/管理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52628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06E"/>
                </a:solidFill>
                <a:latin typeface="Arial"/>
              </a:defRPr>
            </a:pPr>
            <a:r>
              <a:t>数据来源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20640" y="470916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9EFF"/>
                </a:solidFill>
                <a:latin typeface="Arial"/>
              </a:defRPr>
            </a:pPr>
            <a:r>
              <a:t>5 种采集方式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498348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09E"/>
                </a:solidFill>
                <a:latin typeface="Arial"/>
              </a:defRPr>
            </a:pPr>
            <a:r>
              <a:t>Web / Git / 目录 / 文件 / 手动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59" y="452628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06E"/>
                </a:solidFill>
                <a:latin typeface="Arial"/>
              </a:defRPr>
            </a:pPr>
            <a:r>
              <a:t>前端代码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59" y="470916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9EFF"/>
                </a:solidFill>
                <a:latin typeface="Arial"/>
              </a:defRPr>
            </a:pPr>
            <a:r>
              <a:t>index.html   2,132 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59" y="498348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09E"/>
                </a:solidFill>
                <a:latin typeface="Arial"/>
              </a:defRPr>
            </a:pPr>
            <a:r>
              <a:t>纯前端 SPA 暗色主题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80" y="452628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06E"/>
                </a:solidFill>
                <a:latin typeface="Arial"/>
              </a:defRPr>
            </a:pPr>
            <a:r>
              <a:t>搜索引擎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470916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9EFF"/>
                </a:solidFill>
                <a:latin typeface="Arial"/>
              </a:defRPr>
            </a:pPr>
            <a:r>
              <a:t>2 种引擎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498348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09E"/>
                </a:solidFill>
                <a:latin typeface="Arial"/>
              </a:defRPr>
            </a:pPr>
            <a:r>
              <a:t>语义向量 + BM25 关键词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57784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06E"/>
                </a:solidFill>
                <a:latin typeface="Arial"/>
              </a:defRPr>
            </a:pPr>
            <a:r>
              <a:t>AI 模型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76072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9EFF"/>
                </a:solidFill>
                <a:latin typeface="Arial"/>
              </a:defRPr>
            </a:pPr>
            <a:r>
              <a:t>2 个 LLM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603504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09E"/>
                </a:solidFill>
                <a:latin typeface="Arial"/>
              </a:defRPr>
            </a:pPr>
            <a:r>
              <a:t>DeepSeek Chat + Ollama Embed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017520" y="557784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06E"/>
                </a:solidFill>
                <a:latin typeface="Arial"/>
              </a:defRPr>
            </a:pPr>
            <a:r>
              <a:t>评分公式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017520" y="576072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9EFF"/>
                </a:solidFill>
                <a:latin typeface="Arial"/>
              </a:defRPr>
            </a:pPr>
            <a:r>
              <a:t>语义 55% + 关键词 45%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017520" y="603504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09E"/>
                </a:solidFill>
                <a:latin typeface="Arial"/>
              </a:defRPr>
            </a:pPr>
            <a:r>
              <a:t>综合关联度排名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20640" y="557784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06E"/>
                </a:solidFill>
                <a:latin typeface="Arial"/>
              </a:defRPr>
            </a:pPr>
            <a:r>
              <a:t>输出增强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576072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9EFF"/>
                </a:solidFill>
                <a:latin typeface="Arial"/>
              </a:defRPr>
            </a:pPr>
            <a:r>
              <a:t>理由 + 摘要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20640" y="603504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09E"/>
                </a:solidFill>
                <a:latin typeface="Arial"/>
              </a:defRPr>
            </a:pPr>
            <a:r>
              <a:t>reason_text + one_sentence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23759" y="557784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06E"/>
                </a:solidFill>
                <a:latin typeface="Arial"/>
              </a:defRPr>
            </a:pPr>
            <a:r>
              <a:t>部署端口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59" y="576072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9EFF"/>
                </a:solidFill>
                <a:latin typeface="Arial"/>
              </a:defRPr>
            </a:pPr>
            <a:r>
              <a:t>23100-23109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223759" y="603504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09E"/>
                </a:solidFill>
                <a:latin typeface="Arial"/>
              </a:defRPr>
            </a:pPr>
            <a:r>
              <a:t>10 端口号段，多实例并行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557784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06E"/>
                </a:solidFill>
                <a:latin typeface="Arial"/>
              </a:defRPr>
            </a:pPr>
            <a:r>
              <a:t>批量上限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26880" y="576072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9EFF"/>
                </a:solidFill>
                <a:latin typeface="Arial"/>
              </a:defRPr>
            </a:pPr>
            <a:r>
              <a:t>200+ 文档/次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0" y="6035040"/>
            <a:ext cx="19202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09E"/>
                </a:solidFill>
                <a:latin typeface="Arial"/>
              </a:defRPr>
            </a:pPr>
            <a:r>
              <a:t>GitHub 单次批量处理上限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639EFF"/>
                </a:solidFill>
                <a:latin typeface="Arial"/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A909E"/>
                </a:solidFill>
                <a:latin typeface="Arial"/>
              </a:defRPr>
            </a:pPr>
            <a:r>
              <a:t>WikiService  ·  让知识触手可及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5A606E"/>
                </a:solidFill>
                <a:latin typeface="Arial"/>
              </a:defRPr>
            </a:pPr>
            <a:r>
              <a:t>访问  http://localhost:23100/  体验系统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0F0F5"/>
                </a:solidFill>
                <a:latin typeface="Arial"/>
              </a:defRPr>
            </a:pPr>
            <a:r>
              <a:t>界面展示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A909E"/>
                </a:solidFill>
                <a:latin typeface="Arial"/>
              </a:defRPr>
            </a:pPr>
            <a:r>
              <a:t>UI Walkthrough — 知识库系统的四大核心页面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474720"/>
            <a:ext cx="10728655" cy="18288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A606E"/>
                </a:solidFill>
                <a:latin typeface="Arial"/>
              </a:defRPr>
            </a:pPr>
            <a:r>
              <a:t>基于实际运行截图加工 · 展示核心交互流程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5"/>
                </a:solidFill>
                <a:latin typeface="Arial"/>
              </a:defRPr>
            </a:pPr>
            <a:r>
              <a:t>总览 Dashboard — 知识库仪表盘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18288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371600" cy="292608"/>
          </a:xfrm>
          <a:prstGeom prst="round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7607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39EFF"/>
                </a:solidFill>
                <a:latin typeface="Arial"/>
              </a:defRPr>
            </a:pPr>
            <a:r>
              <a:t>📊 总览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548640"/>
            <a:ext cx="1371600" cy="292608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57607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06E"/>
                </a:solidFill>
                <a:latin typeface="Arial"/>
              </a:defRPr>
            </a:pPr>
            <a:r>
              <a:t>💬 智能问答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548640"/>
            <a:ext cx="1371600" cy="292608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57607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06E"/>
                </a:solidFill>
                <a:latin typeface="Arial"/>
              </a:defRPr>
            </a:pPr>
            <a:r>
              <a:t>🕸 知识图谱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548640"/>
            <a:ext cx="1371600" cy="292608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57607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06E"/>
                </a:solidFill>
                <a:latin typeface="Arial"/>
              </a:defRPr>
            </a:pPr>
            <a:r>
              <a:t>📁 知识管理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960120"/>
            <a:ext cx="10728655" cy="18288"/>
          </a:xfrm>
          <a:prstGeom prst="roundRect">
            <a:avLst/>
          </a:prstGeom>
          <a:solidFill>
            <a:srgbClr val="25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188720"/>
            <a:ext cx="2377440" cy="5486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23444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A909E"/>
                </a:solidFill>
                <a:latin typeface="Arial"/>
              </a:defRPr>
            </a:pPr>
            <a:r>
              <a:t>文档总数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138988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3D68C"/>
                </a:solidFill>
                <a:latin typeface="Arial"/>
              </a:defRPr>
            </a:pPr>
            <a:r>
              <a:t>128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1188720"/>
            <a:ext cx="2377440" cy="5486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23444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A909E"/>
                </a:solidFill>
                <a:latin typeface="Arial"/>
              </a:defRPr>
            </a:pPr>
            <a:r>
              <a:t>知识库数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138988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39E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188720"/>
            <a:ext cx="2377440" cy="5486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23444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A909E"/>
                </a:solidFill>
                <a:latin typeface="Arial"/>
              </a:defRPr>
            </a:pPr>
            <a:r>
              <a:t>今日查询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138988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78FF"/>
                </a:solidFill>
                <a:latin typeface="Arial"/>
              </a:defRPr>
            </a:pPr>
            <a:r>
              <a:t>47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23960" y="1188720"/>
            <a:ext cx="2377440" cy="5486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15400" y="123444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A909E"/>
                </a:solidFill>
                <a:latin typeface="Arial"/>
              </a:defRPr>
            </a:pPr>
            <a:r>
              <a:t>存储占用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1389888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DD4BF"/>
                </a:solidFill>
                <a:latin typeface="Arial"/>
              </a:defRPr>
            </a:pPr>
            <a:r>
              <a:t>12.4 MB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1965960"/>
            <a:ext cx="5394960" cy="2331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20391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0F5"/>
                </a:solidFill>
                <a:latin typeface="Arial"/>
              </a:defRPr>
            </a:pPr>
            <a:r>
              <a:t>📋 最近录入文档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2350008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Arial"/>
              </a:defRPr>
            </a:pPr>
            <a:r>
              <a:t>微服务架构设计原则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11880" y="2368296"/>
            <a:ext cx="621792" cy="22860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F0F0F5"/>
                </a:solidFill>
                <a:latin typeface="Arial"/>
              </a:defRPr>
            </a:pPr>
            <a:r>
              <a:t>文件上传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46320" y="236829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A909E"/>
                </a:solidFill>
                <a:latin typeface="Arial"/>
              </a:defRPr>
            </a:pPr>
            <a:r>
              <a:t>2 分钟前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0" y="2368296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06E"/>
                </a:solidFill>
                <a:latin typeface="Arial"/>
              </a:defRPr>
            </a:pPr>
            <a:r>
              <a:t>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2679191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Arial"/>
              </a:defRPr>
            </a:pPr>
            <a:r>
              <a:t>Kubernetes 部署指南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11880" y="2697479"/>
            <a:ext cx="1170432" cy="22860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F0F0F5"/>
                </a:solidFill>
                <a:latin typeface="Arial"/>
              </a:defRPr>
            </a:pPr>
            <a:r>
              <a:t>GitHub 同步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0" y="2697479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A909E"/>
                </a:solidFill>
                <a:latin typeface="Arial"/>
              </a:defRPr>
            </a:pPr>
            <a:r>
              <a:t>15 分钟前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2697479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06E"/>
                </a:solidFill>
                <a:latin typeface="Arial"/>
              </a:defRPr>
            </a:pPr>
            <a:r>
              <a:t>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3008375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Arial"/>
              </a:defRPr>
            </a:pPr>
            <a:r>
              <a:t>API 网关设计文档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11880" y="3026663"/>
            <a:ext cx="841247" cy="22860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F0F0F5"/>
                </a:solidFill>
                <a:latin typeface="Arial"/>
              </a:defRPr>
            </a:pPr>
            <a:r>
              <a:t>URL 抓取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3026663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A909E"/>
                </a:solidFill>
                <a:latin typeface="Arial"/>
              </a:defRPr>
            </a:pPr>
            <a:r>
              <a:t>1 小时前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0" y="3026663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06E"/>
                </a:solidFill>
                <a:latin typeface="Arial"/>
              </a:defRPr>
            </a:pPr>
            <a:r>
              <a:t>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3337559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Arial"/>
              </a:defRPr>
            </a:pPr>
            <a:r>
              <a:t>后端团队周报 #23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11880" y="3355847"/>
            <a:ext cx="621792" cy="22860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F0F0F5"/>
                </a:solidFill>
                <a:latin typeface="Arial"/>
              </a:defRPr>
            </a:pPr>
            <a:r>
              <a:t>手动录入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46320" y="3355847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A909E"/>
                </a:solidFill>
                <a:latin typeface="Arial"/>
              </a:defRPr>
            </a:pPr>
            <a:r>
              <a:t>3 小时前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0" y="3355847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06E"/>
                </a:solidFill>
                <a:latin typeface="Arial"/>
              </a:defRPr>
            </a:pPr>
            <a:r>
              <a:t>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3666744"/>
            <a:ext cx="2560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F0F5"/>
                </a:solidFill>
                <a:latin typeface="Arial"/>
              </a:defRPr>
            </a:pPr>
            <a:r>
              <a:t>数据库优化实践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611880" y="3685031"/>
            <a:ext cx="621792" cy="22860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F0F0F5"/>
                </a:solidFill>
                <a:latin typeface="Arial"/>
              </a:defRPr>
            </a:pPr>
            <a:r>
              <a:t>目录扫描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46320" y="3685031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A909E"/>
                </a:solidFill>
                <a:latin typeface="Arial"/>
              </a:defRPr>
            </a:pPr>
            <a:r>
              <a:t>昨天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3685031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06E"/>
                </a:solidFill>
                <a:latin typeface="Arial"/>
              </a:defRPr>
            </a:pPr>
            <a:r>
              <a:t>▸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46520" y="1965960"/>
            <a:ext cx="4983480" cy="2331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83680" y="20391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0F5"/>
                </a:solidFill>
                <a:latin typeface="Arial"/>
              </a:defRPr>
            </a:pPr>
            <a:r>
              <a:t>📈 知识库分布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29400" y="2377440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Arial"/>
              </a:defRPr>
            </a:pPr>
            <a:r>
              <a:t>技术文档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183879" y="2432304"/>
            <a:ext cx="2377440" cy="91440"/>
          </a:xfrm>
          <a:prstGeom prst="roundRect">
            <a:avLst/>
          </a:prstGeom>
          <a:solidFill>
            <a:srgbClr val="25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183879" y="2432304"/>
            <a:ext cx="1497787" cy="91440"/>
          </a:xfrm>
          <a:prstGeom prst="roundRect">
            <a:avLst/>
          </a:prstGeom>
          <a:solidFill>
            <a:srgbClr val="43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744200" y="2377440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A909E"/>
                </a:solidFill>
                <a:latin typeface="Arial"/>
              </a:defRPr>
            </a:pPr>
            <a:r>
              <a:t>52 篇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29400" y="2670048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Arial"/>
              </a:defRPr>
            </a:pPr>
            <a:r>
              <a:t>运维手册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183879" y="2724912"/>
            <a:ext cx="2377440" cy="91440"/>
          </a:xfrm>
          <a:prstGeom prst="roundRect">
            <a:avLst/>
          </a:prstGeom>
          <a:solidFill>
            <a:srgbClr val="25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183879" y="2724912"/>
            <a:ext cx="1307592" cy="9144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744200" y="2670048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A909E"/>
                </a:solidFill>
                <a:latin typeface="Arial"/>
              </a:defRPr>
            </a:pPr>
            <a:r>
              <a:t>28 篇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629400" y="2962656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Arial"/>
              </a:defRPr>
            </a:pPr>
            <a:r>
              <a:t>产品需求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183879" y="3017520"/>
            <a:ext cx="2377440" cy="91440"/>
          </a:xfrm>
          <a:prstGeom prst="roundRect">
            <a:avLst/>
          </a:prstGeom>
          <a:solidFill>
            <a:srgbClr val="25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183879" y="3017520"/>
            <a:ext cx="1141171" cy="91440"/>
          </a:xfrm>
          <a:prstGeom prst="roundRect">
            <a:avLst/>
          </a:prstGeom>
          <a:solidFill>
            <a:srgbClr val="A7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744200" y="2962656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A909E"/>
                </a:solidFill>
                <a:latin typeface="Arial"/>
              </a:defRPr>
            </a:pPr>
            <a:r>
              <a:t>24 篇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629400" y="3255263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Arial"/>
              </a:defRPr>
            </a:pPr>
            <a:r>
              <a:t>会议纪要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183879" y="3310127"/>
            <a:ext cx="2377440" cy="91440"/>
          </a:xfrm>
          <a:prstGeom prst="roundRect">
            <a:avLst/>
          </a:prstGeom>
          <a:solidFill>
            <a:srgbClr val="25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8183879" y="3310127"/>
            <a:ext cx="832103" cy="91440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744200" y="3255263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A909E"/>
                </a:solidFill>
                <a:latin typeface="Arial"/>
              </a:defRPr>
            </a:pPr>
            <a:r>
              <a:t>16 篇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629400" y="3547871"/>
            <a:ext cx="1463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Arial"/>
              </a:defRPr>
            </a:pPr>
            <a:r>
              <a:t>其他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183879" y="3602735"/>
            <a:ext cx="2377440" cy="91440"/>
          </a:xfrm>
          <a:prstGeom prst="roundRect">
            <a:avLst/>
          </a:prstGeom>
          <a:solidFill>
            <a:srgbClr val="25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183879" y="3602735"/>
            <a:ext cx="475488" cy="91440"/>
          </a:xfrm>
          <a:prstGeom prst="roundRect">
            <a:avLst/>
          </a:prstGeom>
          <a:solidFill>
            <a:srgbClr val="5A6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744200" y="3547871"/>
            <a:ext cx="548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A909E"/>
                </a:solidFill>
                <a:latin typeface="Arial"/>
              </a:defRPr>
            </a:pPr>
            <a:r>
              <a:t>8 篇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31520" y="1463039"/>
            <a:ext cx="10698480" cy="347472"/>
          </a:xfrm>
          <a:prstGeom prst="roundRect">
            <a:avLst/>
          </a:prstGeom>
          <a:solidFill>
            <a:srgbClr val="0D141E"/>
          </a:solidFill>
          <a:ln w="12700">
            <a:solidFill>
              <a:srgbClr val="5A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8680" y="1508760"/>
            <a:ext cx="10241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5A606E"/>
                </a:solidFill>
                <a:latin typeface="Arial"/>
              </a:defRPr>
            </a:pPr>
            <a:r>
              <a:t>🔍  请输入查询关键词...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1137392" y="1499616"/>
            <a:ext cx="274320" cy="27432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137392" y="1517904"/>
            <a:ext cx="274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0F0F5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06E"/>
                </a:solidFill>
                <a:latin typeface="Arial"/>
              </a:defRPr>
            </a:pPr>
            <a:r>
              <a:t>💡 仪表盘提供知识库全局视图：文档总数、存储占用、各知识库分布、最近活动记录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5"/>
                </a:solidFill>
                <a:latin typeface="Arial"/>
              </a:defRPr>
            </a:pPr>
            <a:r>
              <a:t>智能问答 Query — 语义搜索与 AI 评分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18288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371600" cy="292608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7607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06E"/>
                </a:solidFill>
                <a:latin typeface="Arial"/>
              </a:defRPr>
            </a:pPr>
            <a:r>
              <a:t>📊 总览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548640"/>
            <a:ext cx="1371600" cy="292608"/>
          </a:xfrm>
          <a:prstGeom prst="round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57607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39EFF"/>
                </a:solidFill>
                <a:latin typeface="Arial"/>
              </a:defRPr>
            </a:pPr>
            <a:r>
              <a:t>💬 智能问答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548640"/>
            <a:ext cx="1371600" cy="292608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57607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06E"/>
                </a:solidFill>
                <a:latin typeface="Arial"/>
              </a:defRPr>
            </a:pPr>
            <a:r>
              <a:t>🕸 知识图谱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548640"/>
            <a:ext cx="1371600" cy="292608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57607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06E"/>
                </a:solidFill>
                <a:latin typeface="Arial"/>
              </a:defRPr>
            </a:pPr>
            <a:r>
              <a:t>📁 知识管理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960120"/>
            <a:ext cx="10728655" cy="18288"/>
          </a:xfrm>
          <a:prstGeom prst="roundRect">
            <a:avLst/>
          </a:prstGeom>
          <a:solidFill>
            <a:srgbClr val="25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143000"/>
            <a:ext cx="10728655" cy="5029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18872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A909E"/>
                </a:solidFill>
                <a:latin typeface="Arial"/>
              </a:defRPr>
            </a:pPr>
            <a:r>
              <a:t>🔍 查询内容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1399032"/>
            <a:ext cx="9326880" cy="201168"/>
          </a:xfrm>
          <a:prstGeom prst="roundRect">
            <a:avLst/>
          </a:prstGeom>
          <a:solidFill>
            <a:srgbClr val="0D141E"/>
          </a:solidFill>
          <a:ln w="12700">
            <a:solidFill>
              <a:srgbClr val="5A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1408176"/>
            <a:ext cx="8229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0F0F5"/>
                </a:solidFill>
                <a:latin typeface="Arial"/>
              </a:defRPr>
            </a:pPr>
            <a:r>
              <a:t>微服务架构的最佳实践有哪些？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332720" y="1399032"/>
            <a:ext cx="914400" cy="201168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2720" y="139903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0F0F5"/>
                </a:solidFill>
                <a:latin typeface="Arial"/>
              </a:defRPr>
            </a:pPr>
            <a:r>
              <a:t>搜索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828800"/>
            <a:ext cx="107286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0F5"/>
                </a:solidFill>
                <a:latin typeface="Arial"/>
              </a:defRPr>
            </a:pPr>
            <a:r>
              <a:t>⚙️ 查询流水线 (4-Stage Pipeline)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2121408"/>
            <a:ext cx="2560320" cy="7315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2148840"/>
            <a:ext cx="234086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9EFF"/>
                </a:solidFill>
                <a:latin typeface="Arial"/>
              </a:defRPr>
            </a:pPr>
            <a:r>
              <a:t>① 向量化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2359152"/>
            <a:ext cx="23408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Ollama</a:t>
            </a:r>
            <a:br/>
            <a:r>
              <a:t>Embedding</a:t>
            </a:r>
            <a:br/>
            <a:r>
              <a:t>768 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6159" y="2121408"/>
            <a:ext cx="2560320" cy="7315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7" y="2148840"/>
            <a:ext cx="234086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3D68C"/>
                </a:solidFill>
                <a:latin typeface="Arial"/>
              </a:defRPr>
            </a:pPr>
            <a:r>
              <a:t>② 语义搜索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75887" y="2359152"/>
            <a:ext cx="23408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余弦相似度</a:t>
            </a:r>
            <a:br/>
            <a:r>
              <a:t>Top-20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799" y="2121408"/>
            <a:ext cx="2560320" cy="7315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0527" y="2148840"/>
            <a:ext cx="234086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78FF"/>
                </a:solidFill>
                <a:latin typeface="Arial"/>
              </a:defRPr>
            </a:pPr>
            <a:r>
              <a:t>③ 关键词增强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0527" y="2359152"/>
            <a:ext cx="23408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BM25 Fallback</a:t>
            </a:r>
            <a:br/>
            <a:r>
              <a:t>综合评分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2121408"/>
            <a:ext cx="2560320" cy="7315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7" y="2148840"/>
            <a:ext cx="234086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D4BF"/>
                </a:solidFill>
                <a:latin typeface="Arial"/>
              </a:defRPr>
            </a:pPr>
            <a:r>
              <a:t>④ AI 评分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45167" y="2359152"/>
            <a:ext cx="234086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DeepSeek Chat</a:t>
            </a:r>
            <a:br/>
            <a:r>
              <a:t>分类排序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063240"/>
            <a:ext cx="10728655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0F5"/>
                </a:solidFill>
                <a:latin typeface="Arial"/>
              </a:defRPr>
            </a:pPr>
            <a:r>
              <a:t>📋 搜索结果 (Top-3 · 按综合评分排序)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3355848"/>
            <a:ext cx="10698480" cy="65836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2960" y="3410712"/>
            <a:ext cx="402336" cy="228600"/>
          </a:xfrm>
          <a:prstGeom prst="roundRect">
            <a:avLst/>
          </a:prstGeom>
          <a:solidFill>
            <a:srgbClr val="43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0F0F5"/>
                </a:solidFill>
                <a:latin typeface="Arial"/>
              </a:defRPr>
            </a:pPr>
            <a:r>
              <a:t>推荐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98480" y="34290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A909E"/>
                </a:solidFill>
                <a:latin typeface="Arial"/>
              </a:defRPr>
            </a:pPr>
            <a:r>
              <a:t>Score: 0.9123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361188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F0F5"/>
                </a:solidFill>
                <a:latin typeface="Arial"/>
              </a:defRPr>
            </a:pPr>
            <a:r>
              <a:t>1. 微服务架构设计原则与实践指南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3813048"/>
            <a:ext cx="10515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涵盖服务拆分、通信模式、数据一致性的完整方法论，包含 CAP 理论的实践应用与补偿事务模式...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087368"/>
            <a:ext cx="10698480" cy="65836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2960" y="4142231"/>
            <a:ext cx="402336" cy="228600"/>
          </a:xfrm>
          <a:prstGeom prst="roundRect">
            <a:avLst/>
          </a:prstGeom>
          <a:solidFill>
            <a:srgbClr val="43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0F0F5"/>
                </a:solidFill>
                <a:latin typeface="Arial"/>
              </a:defRPr>
            </a:pPr>
            <a:r>
              <a:t>推荐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0" y="416052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A909E"/>
                </a:solidFill>
                <a:latin typeface="Arial"/>
              </a:defRPr>
            </a:pPr>
            <a:r>
              <a:t>Score: 0.8765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34340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F0F5"/>
                </a:solidFill>
                <a:latin typeface="Arial"/>
              </a:defRPr>
            </a:pPr>
            <a:r>
              <a:t>2. Kubernetes 上的微服务部署最佳实践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4544568"/>
            <a:ext cx="10515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详细讲解 K8s 集群中微服务的部署策略：滚动更新、蓝绿部署、金丝雀发布及自动扩缩容配置...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4818888"/>
            <a:ext cx="10698480" cy="658368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22960" y="4873751"/>
            <a:ext cx="621792" cy="22860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700" b="1">
                <a:solidFill>
                  <a:srgbClr val="F0F0F5"/>
                </a:solidFill>
                <a:latin typeface="Arial"/>
              </a:defRPr>
            </a:pPr>
            <a:r>
              <a:t>可能相关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698480" y="489204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8A909E"/>
                </a:solidFill>
                <a:latin typeface="Arial"/>
              </a:defRPr>
            </a:pPr>
            <a:r>
              <a:t>Score: 0.7340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074920"/>
            <a:ext cx="10515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F0F5"/>
                </a:solidFill>
                <a:latin typeface="Arial"/>
              </a:defRPr>
            </a:pPr>
            <a:r>
              <a:t>3. API 网关在微服务架构中的设计模式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" y="5276088"/>
            <a:ext cx="10515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探讨 API 网关的限流、鉴权、路由转发、协议转换等功能在微服务治理中的核心作用...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06E"/>
                </a:solidFill>
                <a:latin typeface="Arial"/>
              </a:defRPr>
            </a:pPr>
            <a:r>
              <a:t>💡 综合评分 = 语义相似度 × 0.55 + 关键词强度 × 0.45 · 结果分为「推荐」「可能相关」「其他」三档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5"/>
                </a:solidFill>
                <a:latin typeface="Arial"/>
              </a:defRPr>
            </a:pPr>
            <a:r>
              <a:t>知识图谱 Graph — D3.js 力导向图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18288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371600" cy="292608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7607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06E"/>
                </a:solidFill>
                <a:latin typeface="Arial"/>
              </a:defRPr>
            </a:pPr>
            <a:r>
              <a:t>📊 总览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548640"/>
            <a:ext cx="1371600" cy="292608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57607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06E"/>
                </a:solidFill>
                <a:latin typeface="Arial"/>
              </a:defRPr>
            </a:pPr>
            <a:r>
              <a:t>💬 智能问答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548640"/>
            <a:ext cx="1371600" cy="292608"/>
          </a:xfrm>
          <a:prstGeom prst="round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57607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39EFF"/>
                </a:solidFill>
                <a:latin typeface="Arial"/>
              </a:defRPr>
            </a:pPr>
            <a:r>
              <a:t>🕸 知识图谱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548640"/>
            <a:ext cx="1371600" cy="292608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57607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06E"/>
                </a:solidFill>
                <a:latin typeface="Arial"/>
              </a:defRPr>
            </a:pPr>
            <a:r>
              <a:t>📁 知识管理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960120"/>
            <a:ext cx="10728655" cy="18288"/>
          </a:xfrm>
          <a:prstGeom prst="roundRect">
            <a:avLst/>
          </a:prstGeom>
          <a:solidFill>
            <a:srgbClr val="25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1143000"/>
            <a:ext cx="5486400" cy="3474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1234440"/>
            <a:ext cx="5212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0F5"/>
                </a:solidFill>
                <a:latin typeface="Arial"/>
              </a:defRPr>
            </a:pPr>
            <a:r>
              <a:t>🕸 实体关系图 — D3.js v7 Force Simulation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79" y="2057400"/>
            <a:ext cx="640080" cy="256032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97479" y="207568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0F0F5"/>
                </a:solidFill>
                <a:latin typeface="Arial"/>
              </a:defRPr>
            </a:pPr>
            <a:r>
              <a:t>微服务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69080" y="2514600"/>
            <a:ext cx="640080" cy="256032"/>
          </a:xfrm>
          <a:prstGeom prst="roundRect">
            <a:avLst/>
          </a:prstGeom>
          <a:solidFill>
            <a:srgbClr val="43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80" y="253288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0F0F5"/>
                </a:solidFill>
                <a:latin typeface="Arial"/>
              </a:defRPr>
            </a:pPr>
            <a:r>
              <a:t>K8s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83079" y="2971800"/>
            <a:ext cx="640080" cy="256032"/>
          </a:xfrm>
          <a:prstGeom prst="roundRect">
            <a:avLst/>
          </a:prstGeom>
          <a:solidFill>
            <a:srgbClr val="A7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83079" y="299008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0F0F5"/>
                </a:solidFill>
                <a:latin typeface="Arial"/>
              </a:defRPr>
            </a:pPr>
            <a:r>
              <a:t>API 网关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26280" y="3703320"/>
            <a:ext cx="640080" cy="256032"/>
          </a:xfrm>
          <a:prstGeom prst="round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26280" y="3721607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0F0F5"/>
                </a:solidFill>
                <a:latin typeface="Arial"/>
              </a:defRPr>
            </a:pPr>
            <a:r>
              <a:t>Docker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40279" y="3886200"/>
            <a:ext cx="640080" cy="25603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40279" y="3904487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0F0F5"/>
                </a:solidFill>
                <a:latin typeface="Arial"/>
              </a:defRPr>
            </a:pPr>
            <a:r>
              <a:t>负载均衡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11879" y="4069080"/>
            <a:ext cx="640080" cy="256032"/>
          </a:xfrm>
          <a:prstGeom prst="roundRect">
            <a:avLst/>
          </a:prstGeom>
          <a:solidFill>
            <a:srgbClr val="43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11879" y="408736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0F0F5"/>
                </a:solidFill>
                <a:latin typeface="Arial"/>
              </a:defRPr>
            </a:pPr>
            <a:r>
              <a:t>服务发现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325880" y="4343400"/>
            <a:ext cx="640080" cy="256032"/>
          </a:xfrm>
          <a:prstGeom prst="roundRect">
            <a:avLst/>
          </a:prstGeom>
          <a:solidFill>
            <a:srgbClr val="A77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436168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0F0F5"/>
                </a:solidFill>
                <a:latin typeface="Arial"/>
              </a:defRPr>
            </a:pPr>
            <a:r>
              <a:t>配置中心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069080" y="4800600"/>
            <a:ext cx="640080" cy="256032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69080" y="4818888"/>
            <a:ext cx="6400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0F0F5"/>
                </a:solidFill>
                <a:latin typeface="Arial"/>
              </a:defRPr>
            </a:pPr>
            <a:r>
              <a:t>CI/CD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4892040"/>
            <a:ext cx="5212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06E"/>
                </a:solidFill>
                <a:latin typeface="Arial"/>
              </a:defRPr>
            </a:pPr>
            <a:r>
              <a:t>节点 32 个 · 关系 48 条 · 6 种正则提取模式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1143000"/>
            <a:ext cx="4892040" cy="3474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1234440"/>
            <a:ext cx="4617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0F5"/>
                </a:solidFill>
                <a:latin typeface="Arial"/>
              </a:defRPr>
            </a:pPr>
            <a:r>
              <a:t>🔬 实体提取引擎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20840" y="1554480"/>
            <a:ext cx="4617720" cy="438912"/>
          </a:xfrm>
          <a:prstGeom prst="roundRect">
            <a:avLst/>
          </a:prstGeom>
          <a:solidFill>
            <a:srgbClr val="1A2028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1572768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639EFF"/>
                </a:solidFill>
                <a:latin typeface="Arial"/>
              </a:defRPr>
            </a:pPr>
            <a:r>
              <a:t>技术术语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1572768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A606E"/>
                </a:solidFill>
                <a:latin typeface="Arial"/>
              </a:defRPr>
            </a:pPr>
            <a:r>
              <a:t>/[A-Z][a-z]+[A-Z]\w*/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66960" y="1572768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A909E"/>
                </a:solidFill>
                <a:latin typeface="Arial"/>
              </a:defRPr>
            </a:pPr>
            <a:r>
              <a:t>匹配驼峰命名如</a:t>
            </a:r>
            <a:br/>
            <a:r>
              <a:t>Kubernetes, PostgreSQL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20840" y="2029967"/>
            <a:ext cx="4617720" cy="438912"/>
          </a:xfrm>
          <a:prstGeom prst="roundRect">
            <a:avLst/>
          </a:prstGeom>
          <a:solidFill>
            <a:srgbClr val="1A2028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2048255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43D68C"/>
                </a:solidFill>
                <a:latin typeface="Arial"/>
              </a:defRPr>
            </a:pPr>
            <a:r>
              <a:t>中文短语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2048255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A606E"/>
                </a:solidFill>
                <a:latin typeface="Arial"/>
              </a:defRPr>
            </a:pPr>
            <a:r>
              <a:t>/[一-鿿]{2,8}/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2048255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A909E"/>
                </a:solidFill>
                <a:latin typeface="Arial"/>
              </a:defRPr>
            </a:pPr>
            <a:r>
              <a:t>匹配 2-8 字中文短语</a:t>
            </a:r>
            <a:br/>
            <a:r>
              <a:t>如：微服务、负载均衡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720840" y="2505456"/>
            <a:ext cx="4617720" cy="438912"/>
          </a:xfrm>
          <a:prstGeom prst="roundRect">
            <a:avLst/>
          </a:prstGeom>
          <a:solidFill>
            <a:srgbClr val="1A2028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2523744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A778FF"/>
                </a:solidFill>
                <a:latin typeface="Arial"/>
              </a:defRPr>
            </a:pPr>
            <a:r>
              <a:t>版本号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0" y="2523744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A606E"/>
                </a:solidFill>
                <a:latin typeface="Arial"/>
              </a:defRPr>
            </a:pPr>
            <a:r>
              <a:t>/v?\d+\.\d+(\.\d+)?/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6960" y="2523744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A909E"/>
                </a:solidFill>
                <a:latin typeface="Arial"/>
              </a:defRPr>
            </a:pPr>
            <a:r>
              <a:t>检测语义版本号</a:t>
            </a:r>
            <a:br/>
            <a:r>
              <a:t>如 v2.3.1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20840" y="2980944"/>
            <a:ext cx="4617720" cy="438912"/>
          </a:xfrm>
          <a:prstGeom prst="roundRect">
            <a:avLst/>
          </a:prstGeom>
          <a:solidFill>
            <a:srgbClr val="1A2028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0" y="2999232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2DD4BF"/>
                </a:solidFill>
                <a:latin typeface="Arial"/>
              </a:defRPr>
            </a:pPr>
            <a:r>
              <a:t>英文缩写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299923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A606E"/>
                </a:solidFill>
                <a:latin typeface="Arial"/>
              </a:defRPr>
            </a:pPr>
            <a:r>
              <a:t>/\b[A-Z]{2,6}\b/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60" y="2999232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A909E"/>
                </a:solidFill>
                <a:latin typeface="Arial"/>
              </a:defRPr>
            </a:pPr>
            <a:r>
              <a:t>识别大写缩写词</a:t>
            </a:r>
            <a:br/>
            <a:r>
              <a:t>如 API, CI/CD, K8s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720840" y="3456432"/>
            <a:ext cx="4617720" cy="438912"/>
          </a:xfrm>
          <a:prstGeom prst="roundRect">
            <a:avLst/>
          </a:prstGeom>
          <a:solidFill>
            <a:srgbClr val="1A2028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0" y="3474720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5A623"/>
                </a:solidFill>
                <a:latin typeface="Arial"/>
              </a:defRPr>
            </a:pPr>
            <a:r>
              <a:t>URL 域名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0" y="3474720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A606E"/>
                </a:solidFill>
                <a:latin typeface="Arial"/>
              </a:defRPr>
            </a:pPr>
            <a:r>
              <a:t>/https?://[\w.-]+/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3474720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A909E"/>
                </a:solidFill>
                <a:latin typeface="Arial"/>
              </a:defRPr>
            </a:pPr>
            <a:r>
              <a:t>提取链接域名特征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720840" y="3931920"/>
            <a:ext cx="4617720" cy="438912"/>
          </a:xfrm>
          <a:prstGeom prst="roundRect">
            <a:avLst/>
          </a:prstGeom>
          <a:solidFill>
            <a:srgbClr val="1A2028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0" y="3950207"/>
            <a:ext cx="12801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05B5B"/>
                </a:solidFill>
                <a:latin typeface="Arial"/>
              </a:defRPr>
            </a:pPr>
            <a:r>
              <a:t>文件路径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29600" y="3950207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A606E"/>
                </a:solidFill>
                <a:latin typeface="Arial"/>
              </a:defRPr>
            </a:pPr>
            <a:r>
              <a:t>/[\w/-]+\.\w{2,4}/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966960" y="3950207"/>
            <a:ext cx="1280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8A909E"/>
                </a:solidFill>
                <a:latin typeface="Arial"/>
              </a:defRPr>
            </a:pPr>
            <a:r>
              <a:t>匹配文件扩展名路径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1520" y="4800600"/>
            <a:ext cx="5394960" cy="1280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8680" y="487375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0F5"/>
                </a:solidFill>
                <a:latin typeface="Arial"/>
              </a:defRPr>
            </a:pPr>
            <a:r>
              <a:t>🔗 [[WikiLink]] 链接导航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60120" y="5184648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09E"/>
                </a:solidFill>
                <a:latin typeface="Arial"/>
              </a:defRPr>
            </a:pPr>
            <a:r>
              <a:t>▸ marked.js 自定义渲染器，解析 [[文档名]] 语法为可点击链接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60120" y="5440680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09E"/>
                </a:solidFill>
                <a:latin typeface="Arial"/>
              </a:defRPr>
            </a:pPr>
            <a:r>
              <a:t>▸ 客户端边栏搜索 — 点击 WikiLink 弹出模态框，实时搜索并展示目标文档摘要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" y="5696712"/>
            <a:ext cx="5120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A909E"/>
                </a:solidFill>
                <a:latin typeface="Arial"/>
              </a:defRPr>
            </a:pPr>
            <a:r>
              <a:t>▸ 支持跨文档关联：点击链接自动跳转到目标页面，保持知识关联脉络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46520" y="4800600"/>
            <a:ext cx="5029200" cy="12801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83680" y="489204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0F5"/>
                </a:solidFill>
                <a:latin typeface="Arial"/>
              </a:defRPr>
            </a:pPr>
            <a:r>
              <a:t>📊 图形交互特性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583680" y="5239512"/>
            <a:ext cx="1463040" cy="274320"/>
          </a:xfrm>
          <a:prstGeom prst="round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29400" y="525780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🖱 拖拽节点  自由调整布局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183879" y="5239512"/>
            <a:ext cx="1463040" cy="274320"/>
          </a:xfrm>
          <a:prstGeom prst="round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29600" y="525780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🔍 缩放平移  鼠标滚轮控制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784080" y="5239512"/>
            <a:ext cx="1463040" cy="274320"/>
          </a:xfrm>
          <a:prstGeom prst="round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829800" y="5257800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🎯 点击聚焦  高亮关联节点与边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583680" y="5586984"/>
            <a:ext cx="1463040" cy="274320"/>
          </a:xfrm>
          <a:prstGeom prst="round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629400" y="560527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📌 固定节点  双击锁定位置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183879" y="5586984"/>
            <a:ext cx="1463040" cy="274320"/>
          </a:xfrm>
          <a:prstGeom prst="round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29600" y="560527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⬇ 导出 SVG  保存图谱为矢量图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5"/>
                </a:solidFill>
                <a:latin typeface="Arial"/>
              </a:defRPr>
            </a:pPr>
            <a:r>
              <a:t>知识管理 Manage — 多源数据录入与文档管理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18288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48640"/>
            <a:ext cx="1371600" cy="292608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57607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06E"/>
                </a:solidFill>
                <a:latin typeface="Arial"/>
              </a:defRPr>
            </a:pPr>
            <a:r>
              <a:t>📊 总览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94560" y="548640"/>
            <a:ext cx="1371600" cy="292608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57607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06E"/>
                </a:solidFill>
                <a:latin typeface="Arial"/>
              </a:defRPr>
            </a:pPr>
            <a:r>
              <a:t>💬 智能问答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548640"/>
            <a:ext cx="1371600" cy="292608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57607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06E"/>
                </a:solidFill>
                <a:latin typeface="Arial"/>
              </a:defRPr>
            </a:pPr>
            <a:r>
              <a:t>🕸 知识图谱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548640"/>
            <a:ext cx="1371600" cy="292608"/>
          </a:xfrm>
          <a:prstGeom prst="round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576072"/>
            <a:ext cx="1371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39EFF"/>
                </a:solidFill>
                <a:latin typeface="Arial"/>
              </a:defRPr>
            </a:pPr>
            <a:r>
              <a:t>📁 知识管理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960120"/>
            <a:ext cx="10728655" cy="18288"/>
          </a:xfrm>
          <a:prstGeom prst="roundRect">
            <a:avLst/>
          </a:prstGeom>
          <a:solidFill>
            <a:srgbClr val="25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143000"/>
            <a:ext cx="107286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F0F5"/>
                </a:solidFill>
                <a:latin typeface="Arial"/>
              </a:defRPr>
            </a:pPr>
            <a:r>
              <a:t>📥 五种数据录入方式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490472"/>
            <a:ext cx="2057400" cy="868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1536192"/>
            <a:ext cx="183794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9EFF"/>
                </a:solidFill>
                <a:latin typeface="Arial"/>
              </a:defRPr>
            </a:pPr>
            <a:r>
              <a:t>🌐 URL 抓取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1764792"/>
            <a:ext cx="18379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Crawl4AI</a:t>
            </a:r>
            <a:br/>
            <a:r>
              <a:t>深度爬取，支持认证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71800" y="1490472"/>
            <a:ext cx="2057400" cy="868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81528" y="1536192"/>
            <a:ext cx="183794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3D68C"/>
                </a:solidFill>
                <a:latin typeface="Arial"/>
              </a:defRPr>
            </a:pPr>
            <a:r>
              <a:t>📁 文件上传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81528" y="1764792"/>
            <a:ext cx="18379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拖拽或选择</a:t>
            </a:r>
            <a:br/>
            <a:r>
              <a:t>MD/PDF/TXT/DOCX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212080" y="1490472"/>
            <a:ext cx="2057400" cy="868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21808" y="1536192"/>
            <a:ext cx="183794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78FF"/>
                </a:solidFill>
                <a:latin typeface="Arial"/>
              </a:defRPr>
            </a:pPr>
            <a:r>
              <a:t>📂 目录扫描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8" y="1764792"/>
            <a:ext cx="18379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File Watcher</a:t>
            </a:r>
            <a:br/>
            <a:r>
              <a:t>自动监控新增文件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1490472"/>
            <a:ext cx="2057400" cy="868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62088" y="1536192"/>
            <a:ext cx="183794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D4BF"/>
                </a:solidFill>
                <a:latin typeface="Arial"/>
              </a:defRPr>
            </a:pPr>
            <a:r>
              <a:t>🐙 GitHub 同步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2088" y="1764792"/>
            <a:ext cx="18379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Git Ingester</a:t>
            </a:r>
            <a:br/>
            <a:r>
              <a:t>仓库文档提取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692640" y="1490472"/>
            <a:ext cx="2057400" cy="8686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02368" y="1536192"/>
            <a:ext cx="183794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A623"/>
                </a:solidFill>
                <a:latin typeface="Arial"/>
              </a:defRPr>
            </a:pPr>
            <a:r>
              <a:t>✏️ 手动录入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02368" y="1764792"/>
            <a:ext cx="1837943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文本输入框</a:t>
            </a:r>
            <a:br/>
            <a:r>
              <a:t>MD5 哈希去重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2560320"/>
            <a:ext cx="10728655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F0F5"/>
                </a:solidFill>
                <a:latin typeface="Arial"/>
              </a:defRPr>
            </a:pPr>
            <a:r>
              <a:t>📋 已录入文档列表 (去重 · SHA256/MD5)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2852927"/>
            <a:ext cx="10728655" cy="274320"/>
          </a:xfrm>
          <a:prstGeom prst="roundRect">
            <a:avLst/>
          </a:prstGeom>
          <a:solidFill>
            <a:srgbClr val="25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2871215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A909E"/>
                </a:solidFill>
                <a:latin typeface="Arial"/>
              </a:defRPr>
            </a:pPr>
            <a:r>
              <a:t>文档标题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2871215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A909E"/>
                </a:solidFill>
                <a:latin typeface="Arial"/>
              </a:defRPr>
            </a:pPr>
            <a:r>
              <a:t>来源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2871215"/>
            <a:ext cx="1828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A909E"/>
                </a:solidFill>
                <a:latin typeface="Arial"/>
              </a:defRPr>
            </a:pPr>
            <a:r>
              <a:t>录入时间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2871215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A909E"/>
                </a:solidFill>
                <a:latin typeface="Arial"/>
              </a:defRPr>
            </a:pPr>
            <a:r>
              <a:t>操作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3154679"/>
            <a:ext cx="10728655" cy="256032"/>
          </a:xfrm>
          <a:prstGeom prst="round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3172968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Arial"/>
              </a:defRPr>
            </a:pPr>
            <a:r>
              <a:t>微服务架构设计原则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0" y="3191256"/>
            <a:ext cx="621792" cy="22860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F0F0F5"/>
                </a:solidFill>
                <a:latin typeface="Arial"/>
              </a:defRPr>
            </a:pPr>
            <a:r>
              <a:t>文件上传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317296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2026-05-15 14:32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92640" y="3172968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9EFF"/>
                </a:solidFill>
                <a:latin typeface="Arial"/>
              </a:defRPr>
            </a:pPr>
            <a:r>
              <a:t>查看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3172968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5B5B"/>
                </a:solidFill>
                <a:latin typeface="Arial"/>
              </a:defRPr>
            </a:pPr>
            <a:r>
              <a:t>删除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1520" y="3438144"/>
            <a:ext cx="10728655" cy="25603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" y="3456432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Arial"/>
              </a:defRPr>
            </a:pPr>
            <a:r>
              <a:t>Kubernetes 集群部署指南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0" y="3474720"/>
            <a:ext cx="1170432" cy="22860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F0F0F5"/>
                </a:solidFill>
                <a:latin typeface="Arial"/>
              </a:defRPr>
            </a:pPr>
            <a:r>
              <a:t>GitHub 同步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3456432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2026-05-15 10:15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3456432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9EFF"/>
                </a:solidFill>
                <a:latin typeface="Arial"/>
              </a:defRPr>
            </a:pPr>
            <a:r>
              <a:t>查看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3456432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5B5B"/>
                </a:solidFill>
                <a:latin typeface="Arial"/>
              </a:defRPr>
            </a:pPr>
            <a:r>
              <a:t>删除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3721607"/>
            <a:ext cx="10728655" cy="256032"/>
          </a:xfrm>
          <a:prstGeom prst="round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8680" y="3739895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Arial"/>
              </a:defRPr>
            </a:pPr>
            <a:r>
              <a:t>API 网关设计模式与实践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69280" y="3758183"/>
            <a:ext cx="841247" cy="22860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F0F0F5"/>
                </a:solidFill>
                <a:latin typeface="Arial"/>
              </a:defRPr>
            </a:pPr>
            <a:r>
              <a:t>URL 抓取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9520" y="3739895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2026-05-14 18:20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92640" y="3739895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9EFF"/>
                </a:solidFill>
                <a:latin typeface="Arial"/>
              </a:defRPr>
            </a:pPr>
            <a:r>
              <a:t>查看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241280" y="3739895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5B5B"/>
                </a:solidFill>
                <a:latin typeface="Arial"/>
              </a:defRPr>
            </a:pPr>
            <a:r>
              <a:t>删除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005071"/>
            <a:ext cx="10728655" cy="25603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68680" y="4023359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Arial"/>
              </a:defRPr>
            </a:pPr>
            <a:r>
              <a:t>后端团队周报 #23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669280" y="4041647"/>
            <a:ext cx="621792" cy="22860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F0F0F5"/>
                </a:solidFill>
                <a:latin typeface="Arial"/>
              </a:defRPr>
            </a:pPr>
            <a:r>
              <a:t>手动录入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89520" y="4023359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2026-05-14 09:45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0" y="4023359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9EFF"/>
                </a:solidFill>
                <a:latin typeface="Arial"/>
              </a:defRPr>
            </a:pPr>
            <a:r>
              <a:t>查看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241280" y="4023359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5B5B"/>
                </a:solidFill>
                <a:latin typeface="Arial"/>
              </a:defRPr>
            </a:pPr>
            <a:r>
              <a:t>删除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31520" y="4288535"/>
            <a:ext cx="10728655" cy="256032"/>
          </a:xfrm>
          <a:prstGeom prst="round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68680" y="4306823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Arial"/>
              </a:defRPr>
            </a:pPr>
            <a:r>
              <a:t>数据库优化最佳实践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9280" y="4325111"/>
            <a:ext cx="621792" cy="22860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F0F0F5"/>
                </a:solidFill>
                <a:latin typeface="Arial"/>
              </a:defRPr>
            </a:pPr>
            <a:r>
              <a:t>目录扫描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89520" y="4306823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2026-05-13 16:30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92640" y="4306823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9EFF"/>
                </a:solidFill>
                <a:latin typeface="Arial"/>
              </a:defRPr>
            </a:pPr>
            <a:r>
              <a:t>查看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41280" y="4306823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5B5B"/>
                </a:solidFill>
                <a:latin typeface="Arial"/>
              </a:defRPr>
            </a:pPr>
            <a:r>
              <a:t>删除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31520" y="4571999"/>
            <a:ext cx="10728655" cy="25603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8680" y="4590287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Arial"/>
              </a:defRPr>
            </a:pPr>
            <a:r>
              <a:t>Docker 容器化部署方案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5669280" y="4608575"/>
            <a:ext cx="621792" cy="22860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F0F0F5"/>
                </a:solidFill>
                <a:latin typeface="Arial"/>
              </a:defRPr>
            </a:pPr>
            <a:r>
              <a:t>文件上传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89520" y="4590287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2026-05-13 11:08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92640" y="4590287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9EFF"/>
                </a:solidFill>
                <a:latin typeface="Arial"/>
              </a:defRPr>
            </a:pPr>
            <a:r>
              <a:t>查看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241280" y="4590287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5B5B"/>
                </a:solidFill>
                <a:latin typeface="Arial"/>
              </a:defRPr>
            </a:pPr>
            <a:r>
              <a:t>删除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31520" y="4855463"/>
            <a:ext cx="10728655" cy="256032"/>
          </a:xfrm>
          <a:prstGeom prst="roundRect">
            <a:avLst/>
          </a:prstGeom>
          <a:solidFill>
            <a:srgbClr val="1A2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68680" y="4873751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Arial"/>
              </a:defRPr>
            </a:pPr>
            <a:r>
              <a:t>前端性能优化指南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669280" y="4892039"/>
            <a:ext cx="841247" cy="22860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F0F0F5"/>
                </a:solidFill>
                <a:latin typeface="Arial"/>
              </a:defRPr>
            </a:pPr>
            <a:r>
              <a:t>URL 抓取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89520" y="4873751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2026-05-12 20:55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692640" y="4873751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9EFF"/>
                </a:solidFill>
                <a:latin typeface="Arial"/>
              </a:defRPr>
            </a:pPr>
            <a:r>
              <a:t>查看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241280" y="4873751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5B5B"/>
                </a:solidFill>
                <a:latin typeface="Arial"/>
              </a:defRPr>
            </a:pPr>
            <a:r>
              <a:t>删除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31520" y="5138927"/>
            <a:ext cx="10728655" cy="256032"/>
          </a:xfrm>
          <a:prstGeom prst="round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868680" y="5157215"/>
            <a:ext cx="4572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0F0F5"/>
                </a:solidFill>
                <a:latin typeface="Arial"/>
              </a:defRPr>
            </a:pPr>
            <a:r>
              <a:t>系统监控与告警方案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5669280" y="5175503"/>
            <a:ext cx="1170432" cy="22860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600" b="1">
                <a:solidFill>
                  <a:srgbClr val="F0F0F5"/>
                </a:solidFill>
                <a:latin typeface="Arial"/>
              </a:defRPr>
            </a:pPr>
            <a:r>
              <a:t>GitHub 同步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589520" y="5157215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2026-05-12 15:40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692640" y="5157215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9EFF"/>
                </a:solidFill>
                <a:latin typeface="Arial"/>
              </a:defRPr>
            </a:pPr>
            <a:r>
              <a:t>查看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241280" y="5157215"/>
            <a:ext cx="5486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05B5B"/>
                </a:solidFill>
                <a:latin typeface="Arial"/>
              </a:defRPr>
            </a:pPr>
            <a:r>
              <a:t>删除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06E"/>
                </a:solidFill>
                <a:latin typeface="Arial"/>
              </a:defRPr>
            </a:pPr>
            <a:r>
              <a:t>💡 去重策略：文本输入使用 MD5 · Git 文档使用 SHA256 · 重复文档自动跳过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F0F5"/>
                </a:solidFill>
                <a:latin typeface="Arial"/>
              </a:defRPr>
            </a:pPr>
            <a:r>
              <a:t>搜索评分流程 — 从查询到结果的完整链路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10728655" cy="18288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097280"/>
            <a:ext cx="4846320" cy="43891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25880" y="111556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9EFF"/>
                </a:solidFill>
                <a:latin typeface="Arial"/>
              </a:defRPr>
            </a:pPr>
            <a:r>
              <a:t>用户输入查询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0" y="1316736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微服务架构最佳实践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7099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A606E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103120"/>
            <a:ext cx="4846320" cy="43891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12140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3D68C"/>
                </a:solidFill>
                <a:latin typeface="Arial"/>
              </a:defRPr>
            </a:pPr>
            <a:r>
              <a:t>Ollama Embedding</a:t>
            </a:r>
            <a:br/>
            <a:r>
              <a:t>768 维向量化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2322576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本地毫秒级响应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271576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A606E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3108960"/>
            <a:ext cx="4846320" cy="43891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12724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A778FF"/>
                </a:solidFill>
                <a:latin typeface="Arial"/>
              </a:defRPr>
            </a:pPr>
            <a:r>
              <a:t>语义搜索 Top-20</a:t>
            </a:r>
            <a:br/>
            <a:r>
              <a:t>余弦相似度排序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3328416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sem_score ∈ [0,1]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37216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A606E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4114800"/>
            <a:ext cx="4846320" cy="43891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133087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DD4BF"/>
                </a:solidFill>
                <a:latin typeface="Arial"/>
              </a:defRPr>
            </a:pPr>
            <a:r>
              <a:t>BM25 关键词增强</a:t>
            </a:r>
            <a:br/>
            <a:r>
              <a:t>phrase/bigram/text_hit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4334256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kw_strength 置信度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47274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A606E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88720" y="5120640"/>
            <a:ext cx="4846320" cy="43891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513892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A623"/>
                </a:solidFill>
                <a:latin typeface="Arial"/>
              </a:defRPr>
            </a:pPr>
            <a:r>
              <a:t>综合评分</a:t>
            </a:r>
            <a:br/>
            <a:r>
              <a:t>0.55×sem + 0.45×kw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5340096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composite ranking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573328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A606E"/>
                </a:solidFill>
                <a:latin typeface="Arial"/>
              </a:defRPr>
            </a:pPr>
            <a: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88720" y="6126480"/>
            <a:ext cx="4846320" cy="438912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6144768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05B5B"/>
                </a:solidFill>
                <a:latin typeface="Arial"/>
              </a:defRPr>
            </a:pPr>
            <a:r>
              <a:t>DeepSeek Chat 分类</a:t>
            </a:r>
            <a:br/>
            <a:r>
              <a:t>推荐 / 可能相关 / 其他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6345936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reason_text + one_sentence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1005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0F0F5"/>
                </a:solidFill>
                <a:latin typeface="Arial"/>
              </a:defRPr>
            </a:pPr>
            <a:r>
              <a:t>📊 评级判定逻辑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1371600"/>
            <a:ext cx="5029200" cy="29260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720840" y="1508760"/>
            <a:ext cx="4754880" cy="640080"/>
          </a:xfrm>
          <a:prstGeom prst="roundRect">
            <a:avLst/>
          </a:prstGeom>
          <a:solidFill>
            <a:srgbClr val="1A2028"/>
          </a:solidFill>
          <a:ln w="12700">
            <a:solidFill>
              <a:srgbClr val="43D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0" y="1554480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3D68C"/>
                </a:solidFill>
                <a:latin typeface="Arial"/>
              </a:defRPr>
            </a:pPr>
            <a:r>
              <a:t>推荐 (High)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1783080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sem ≥ 0.50 且 (短语命中 / Bigram≥2 / 英文命中)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720840" y="2221991"/>
            <a:ext cx="4754880" cy="640080"/>
          </a:xfrm>
          <a:prstGeom prst="roundRect">
            <a:avLst/>
          </a:prstGeom>
          <a:solidFill>
            <a:srgbClr val="1A2028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2267711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5A623"/>
                </a:solidFill>
                <a:latin typeface="Arial"/>
              </a:defRPr>
            </a:pPr>
            <a:r>
              <a:t>可能相关 (Medium)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2496311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sem ≥ 0.30 且 (短语/Bigram≥1) 或超短查询 sem≥0.40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720840" y="2935224"/>
            <a:ext cx="4754880" cy="640080"/>
          </a:xfrm>
          <a:prstGeom prst="roundRect">
            <a:avLst/>
          </a:prstGeom>
          <a:solidFill>
            <a:srgbClr val="1A2028"/>
          </a:solidFill>
          <a:ln w="12700">
            <a:solidFill>
              <a:srgbClr val="5A60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0" y="2980944"/>
            <a:ext cx="4480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5A606E"/>
                </a:solidFill>
                <a:latin typeface="Arial"/>
              </a:defRPr>
            </a:pPr>
            <a:r>
              <a:t>其他 (Low)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3209544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其余命中结果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4805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0F0F5"/>
                </a:solidFill>
                <a:latin typeface="Arial"/>
              </a:defRPr>
            </a:pPr>
            <a:r>
              <a:t>🔑 评分信号 (Scoring Signals)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0" y="4754880"/>
            <a:ext cx="5029200" cy="118872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25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720840" y="4846320"/>
            <a:ext cx="1371600" cy="18288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0" y="4846320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0F0F5"/>
                </a:solidFill>
                <a:latin typeface="Arial"/>
              </a:defRPr>
            </a:pPr>
            <a:r>
              <a:t>phrase_hit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3879" y="4846320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查询词连续出现在文档中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4160" y="484632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A606E"/>
                </a:solidFill>
                <a:latin typeface="Arial"/>
              </a:defRPr>
            </a:pPr>
            <a:r>
              <a:t>高置信度核心信号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20840" y="5065776"/>
            <a:ext cx="1371600" cy="18288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0" y="5065776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0F0F5"/>
                </a:solidFill>
                <a:latin typeface="Arial"/>
              </a:defRPr>
            </a:pPr>
            <a:r>
              <a:t>n_bigrams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79" y="5065776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双词组合命中数量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24160" y="506577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A606E"/>
                </a:solidFill>
                <a:latin typeface="Arial"/>
              </a:defRPr>
            </a:pPr>
            <a:r>
              <a:t>短语匹配度指标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720840" y="5285232"/>
            <a:ext cx="1371600" cy="18288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0" y="5285232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0F0F5"/>
                </a:solidFill>
                <a:latin typeface="Arial"/>
              </a:defRPr>
            </a:pPr>
            <a:r>
              <a:t>en_hit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83879" y="5285232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英文关键词精确命中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24160" y="528523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A606E"/>
                </a:solidFill>
                <a:latin typeface="Arial"/>
              </a:defRPr>
            </a:pPr>
            <a:r>
              <a:t>技术文档特别有效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720840" y="5504688"/>
            <a:ext cx="1371600" cy="18288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766560" y="5504688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0F0F5"/>
                </a:solidFill>
                <a:latin typeface="Arial"/>
              </a:defRPr>
            </a:pPr>
            <a:r>
              <a:t>text_hit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83879" y="5504688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词汇片段匹配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60" y="5504688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A606E"/>
                </a:solidFill>
                <a:latin typeface="Arial"/>
              </a:defRPr>
            </a:pPr>
            <a:r>
              <a:t>超短查询的备选信号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720840" y="5724144"/>
            <a:ext cx="1371600" cy="18288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766560" y="5724144"/>
            <a:ext cx="1325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00" b="1">
                <a:solidFill>
                  <a:srgbClr val="F0F0F5"/>
                </a:solidFill>
                <a:latin typeface="Arial"/>
              </a:defRPr>
            </a:pPr>
            <a:r>
              <a:t>kw_strength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83879" y="5724144"/>
            <a:ext cx="2194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8A909E"/>
                </a:solidFill>
                <a:latin typeface="Arial"/>
              </a:defRPr>
            </a:pPr>
            <a:r>
              <a:t>关键词强度 0~1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424160" y="572414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0">
                <a:solidFill>
                  <a:srgbClr val="5A606E"/>
                </a:solidFill>
                <a:latin typeface="Arial"/>
              </a:defRPr>
            </a:pPr>
            <a:r>
              <a:t>综合关键词评分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626364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06E"/>
                </a:solidFill>
                <a:latin typeface="Arial"/>
              </a:defRPr>
            </a:pPr>
            <a:r>
              <a:t>💡 全链路 4 阶段：向量化 → 语义搜索 → 关键词增强 → AI 评分 · 所有 Embedding 均在本地 Ollama 完成，仅评分阶段调用 DeepSeek API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45720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0F0F5"/>
                </a:solidFill>
                <a:latin typeface="Arial"/>
              </a:defRPr>
            </a:pPr>
            <a:r>
              <a:t>谢谢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A909E"/>
                </a:solidFill>
                <a:latin typeface="Arial"/>
              </a:defRPr>
            </a:pPr>
            <a:r>
              <a:t>WikiService · 企业级知识库系统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4114800"/>
            <a:ext cx="3047695" cy="18288"/>
          </a:xfrm>
          <a:prstGeom prst="roundRect">
            <a:avLst/>
          </a:prstGeom>
          <a:solidFill>
            <a:srgbClr val="63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72865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A606E"/>
                </a:solidFill>
                <a:latin typeface="Arial"/>
              </a:defRPr>
            </a:pPr>
            <a:r>
              <a:t>LightRAG + D3.js + Ollama + DeepSeek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